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AB39C5-F988-4711-B0FF-4F6FC30F69C6}">
  <a:tblStyle styleId="{0CAB39C5-F988-4711-B0FF-4F6FC30F69C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e9845a961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e9845a961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Welcome slide. Introduce yourself briefly: name, college, project title. Mention this is a live, deployed AI application. (~30 seconds)</a:t>
            </a:r>
            <a:endParaRPr/>
          </a:p>
        </p:txBody>
      </p:sp>
      <p:sp>
        <p:nvSpPr>
          <p:cNvPr id="55" name="Google Shape;55;g3ee9845a961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e9845a961_2_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ee9845a961_2_2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Explain the pain: legal review is slow, manual, and inaccessible. Keyword search is inadequate — it misses context. This is the gap LexCounsel AI fills. (~45 seconds)</a:t>
            </a:r>
            <a:endParaRPr/>
          </a:p>
        </p:txBody>
      </p:sp>
      <p:sp>
        <p:nvSpPr>
          <p:cNvPr id="74" name="Google Shape;74;g3ee9845a961_2_2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e9845a961_2_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ee9845a961_2_4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Walk through the 6 core objectives. Emphasize that ALL objectives were fully delivered in the final deployment. (~40 seconds)</a:t>
            </a:r>
            <a:endParaRPr/>
          </a:p>
        </p:txBody>
      </p:sp>
      <p:sp>
        <p:nvSpPr>
          <p:cNvPr id="98" name="Google Shape;98;g3ee9845a961_2_4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e9845a961_2_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ee9845a961_2_7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comparison table shows why a dedicated RAG system is superior to both keyword search and generic LLMs. Highlight Source Attribution and Hallucination Risk rows. (~40 seconds)</a:t>
            </a:r>
            <a:endParaRPr/>
          </a:p>
        </p:txBody>
      </p:sp>
      <p:sp>
        <p:nvSpPr>
          <p:cNvPr id="130" name="Google Shape;130;g3ee9845a961_2_7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e9845a961_2_12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ee9845a961_2_12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open-source or free-tier tools. React SPA for frontend, FastAPI for REST backend, PostgreSQL for metadata, ChromaDB for vectors, Gemini for LLM, Vercel+Render for cloud. (~40 seconds)</a:t>
            </a:r>
            <a:endParaRPr/>
          </a:p>
        </p:txBody>
      </p:sp>
      <p:sp>
        <p:nvSpPr>
          <p:cNvPr id="179" name="Google Shape;179;g3ee9845a961_2_12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e9845a961_2_16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ee9845a961_2_16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Explain the three tiers: React frontend on Vercel, FastAPI backend on Render, and dual storage (PostgreSQL for metadata, ChromaDB for vectors). Gemini is called externally. (~50 seconds)</a:t>
            </a:r>
            <a:endParaRPr/>
          </a:p>
        </p:txBody>
      </p:sp>
      <p:sp>
        <p:nvSpPr>
          <p:cNvPr id="217" name="Google Shape;217;g3ee9845a961_2_16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e9845a961_2_1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ee9845a961_2_1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Two-phase pipeline: Ingestion (PDF → chunks → embeddings → ChromaDB) and Query (question → vector → retrieval → Gemini → answer + sources). Both phases run in under 5 seconds for typical legal docs. (~60 seconds)</a:t>
            </a:r>
            <a:endParaRPr/>
          </a:p>
        </p:txBody>
      </p:sp>
      <p:sp>
        <p:nvSpPr>
          <p:cNvPr id="251" name="Google Shape;251;g3ee9845a961_2_1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e9845a961_2_2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ee9845a961_2_24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React SPA is structured into components, pages, context, and services. JWT tokens are stored in memory (not localStorage) for XSS protection. Vercel CI/CD auto-deploys on every Git push. (~40 seconds)</a:t>
            </a:r>
            <a:endParaRPr/>
          </a:p>
        </p:txBody>
      </p:sp>
      <p:sp>
        <p:nvSpPr>
          <p:cNvPr id="302" name="Google Shape;302;g3ee9845a961_2_24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e9845a961_2_2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ee9845a961_2_2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Layered architecture: API routes → Core config → Models (ORM) → Schemas (Pydantic) → Services. Each service handles one concern. FastAPI auto-generates Swagger docs from these schemas. (~45 seconds)</a:t>
            </a:r>
            <a:endParaRPr/>
          </a:p>
        </p:txBody>
      </p:sp>
      <p:sp>
        <p:nvSpPr>
          <p:cNvPr id="334" name="Google Shape;334;g3ee9845a961_2_2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e9845a961_2_3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ee9845a961_2_3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PostgreSQL has two tables. users stores login credentials (bcrypt hashed). documents stores metadata + a chroma_collection_id that links to ChromaDB. One user can have many documents (1:N). (~40 seconds)</a:t>
            </a:r>
            <a:endParaRPr/>
          </a:p>
        </p:txBody>
      </p:sp>
      <p:sp>
        <p:nvSpPr>
          <p:cNvPr id="363" name="Google Shape;363;g3ee9845a961_2_3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ee9845a961_2_3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ee9845a961_2_33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Security is production-grade: JWT auth, bcrypt hashing, CORS whitelist, env var secrets, HTTPS everywhere, per-user data isolation. No secrets ever leave the server. (~45 seconds)</a:t>
            </a:r>
            <a:endParaRPr/>
          </a:p>
        </p:txBody>
      </p:sp>
      <p:sp>
        <p:nvSpPr>
          <p:cNvPr id="400" name="Google Shape;400;g3ee9845a961_2_33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ee9845a961_2_3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ee9845a961_2_36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the heart of the project. Walk through each step: vectorise question → query ChromaDB → retrieve top-5 chunks → build prompt with context → Gemini generates answer → sources returned to user. (~60 seconds)</a:t>
            </a:r>
            <a:endParaRPr/>
          </a:p>
        </p:txBody>
      </p:sp>
      <p:sp>
        <p:nvSpPr>
          <p:cNvPr id="432" name="Google Shape;432;g3ee9845a961_2_36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e9845a961_2_40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ee9845a961_2_40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 key features covering the full user journey. Emphasize that all features are live and working on the production deployment. (~40 seconds)</a:t>
            </a:r>
            <a:endParaRPr/>
          </a:p>
        </p:txBody>
      </p:sp>
      <p:sp>
        <p:nvSpPr>
          <p:cNvPr id="470" name="Google Shape;470;g3ee9845a961_2_40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ee9845a961_2_4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g3ee9845a961_2_4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Replace grey placeholders with actual screenshots before the viva. Live demo recommended: open https://lex-counsel-ai-kecs.vercel.app and show Q&amp;A in action. (~30 seconds, or full live demo)</a:t>
            </a:r>
            <a:endParaRPr/>
          </a:p>
        </p:txBody>
      </p:sp>
      <p:sp>
        <p:nvSpPr>
          <p:cNvPr id="518" name="Google Shape;518;g3ee9845a961_2_4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e9845a961_2_4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g3ee9845a961_2_4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22 test cases across 5 categories — 100% pass rate on live production. Testing strategy: unit testing (Pytest), integration testing (FastAPI TestClient), and UAT on Vercel deployment. (~40 seconds)</a:t>
            </a:r>
            <a:endParaRPr/>
          </a:p>
        </p:txBody>
      </p:sp>
      <p:sp>
        <p:nvSpPr>
          <p:cNvPr id="550" name="Google Shape;550;g3ee9845a961_2_4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ee9845a961_2_5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g3ee9845a961_2_54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Sub-3-second response time for all tested documents. 91% average retrieval accuracy. Ingestion is a one-time cost. These metrics were measured on the free-tier Render instance — paid tier would improve performance. (~40 seconds)</a:t>
            </a:r>
            <a:endParaRPr/>
          </a:p>
        </p:txBody>
      </p:sp>
      <p:sp>
        <p:nvSpPr>
          <p:cNvPr id="616" name="Google Shape;616;g3ee9845a961_2_54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ee9845a961_2_5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ee9845a961_2_55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components deployed: React frontend on Vercel CDN, FastAPI backend on Render, Swagger docs auto-generated. All on free tier — zero operational cost. (~35 seconds)</a:t>
            </a:r>
            <a:endParaRPr/>
          </a:p>
        </p:txBody>
      </p:sp>
      <p:sp>
        <p:nvSpPr>
          <p:cNvPr id="630" name="Google Shape;630;g3ee9845a961_2_55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ee9845a961_2_5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g3ee9845a961_2_59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These are real engineering challenges encountered in production. Examiners appreciate that you identified problems and solved them methodically. Be ready to explain the exponential backoff logic. (~45 seconds)</a:t>
            </a:r>
            <a:endParaRPr/>
          </a:p>
        </p:txBody>
      </p:sp>
      <p:sp>
        <p:nvSpPr>
          <p:cNvPr id="663" name="Google Shape;663;g3ee9845a961_2_59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ee9845a961_2_6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g3ee9845a961_2_6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 future enhancements identified across 3 phases. Phase 1 can be implemented quickly. Phase 3 represents a commercially deployable Legal AI SaaS product. (~35 seconds)</a:t>
            </a:r>
            <a:endParaRPr/>
          </a:p>
        </p:txBody>
      </p:sp>
      <p:sp>
        <p:nvSpPr>
          <p:cNvPr id="696" name="Google Shape;696;g3ee9845a961_2_6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ee9845a961_2_6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g3ee9845a961_2_67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Powerful closing: summarise the 6 key outcomes. Emphasize that this is a live, working product — not just a prototype. End with the gold bar quote. (~35 seconds)</a:t>
            </a:r>
            <a:endParaRPr/>
          </a:p>
        </p:txBody>
      </p:sp>
      <p:sp>
        <p:nvSpPr>
          <p:cNvPr id="746" name="Google Shape;746;g3ee9845a961_2_67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ee9845a961_2_69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g3ee9845a961_2_69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Display this slide during Q&amp;A so evaluators can scan QR codes or click links. Mention that test credentials: ramu@gmail.com / 123456 are available for evaluators. (~20 seconds)</a:t>
            </a:r>
            <a:endParaRPr/>
          </a:p>
        </p:txBody>
      </p:sp>
      <p:sp>
        <p:nvSpPr>
          <p:cNvPr id="774" name="Google Shape;774;g3ee9845a961_2_69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ee9845a961_2_7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g3ee9845a961_2_7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Close confidently. Invite questions. Be ready to demo the live app on a second screen. Suggested questions to prepare for: Why HashingVectorizer over SentenceTransformers? How does RAG reduce hallucination? What's next for this project?</a:t>
            </a:r>
            <a:endParaRPr/>
          </a:p>
        </p:txBody>
      </p:sp>
      <p:sp>
        <p:nvSpPr>
          <p:cNvPr id="802" name="Google Shape;802;g3ee9845a961_2_7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4.png"/><Relationship Id="rId8" Type="http://schemas.openxmlformats.org/officeDocument/2006/relationships/image" Target="../media/image5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4.png"/><Relationship Id="rId8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Relationship Id="rId4" Type="http://schemas.openxmlformats.org/officeDocument/2006/relationships/image" Target="../media/image18.png"/><Relationship Id="rId5" Type="http://schemas.openxmlformats.org/officeDocument/2006/relationships/image" Target="../media/image51.png"/><Relationship Id="rId6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42.png"/><Relationship Id="rId6" Type="http://schemas.openxmlformats.org/officeDocument/2006/relationships/image" Target="../media/image51.png"/><Relationship Id="rId7" Type="http://schemas.openxmlformats.org/officeDocument/2006/relationships/image" Target="../media/image40.png"/><Relationship Id="rId8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5.png"/><Relationship Id="rId10" Type="http://schemas.openxmlformats.org/officeDocument/2006/relationships/image" Target="../media/image18.png"/><Relationship Id="rId9" Type="http://schemas.openxmlformats.org/officeDocument/2006/relationships/image" Target="../media/image51.png"/><Relationship Id="rId5" Type="http://schemas.openxmlformats.org/officeDocument/2006/relationships/image" Target="../media/image6.png"/><Relationship Id="rId6" Type="http://schemas.openxmlformats.org/officeDocument/2006/relationships/image" Target="../media/image14.png"/><Relationship Id="rId7" Type="http://schemas.openxmlformats.org/officeDocument/2006/relationships/image" Target="../media/image4.png"/><Relationship Id="rId8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1.png"/><Relationship Id="rId4" Type="http://schemas.openxmlformats.org/officeDocument/2006/relationships/image" Target="../media/image11.png"/><Relationship Id="rId5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9.png"/><Relationship Id="rId4" Type="http://schemas.openxmlformats.org/officeDocument/2006/relationships/image" Target="../media/image51.png"/><Relationship Id="rId5" Type="http://schemas.openxmlformats.org/officeDocument/2006/relationships/image" Target="../media/image11.png"/><Relationship Id="rId6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4B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22368"/>
          </a:solidFill>
          <a:ln cap="flat" cmpd="sng" w="12700">
            <a:solidFill>
              <a:srgbClr val="122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766560" y="-548640"/>
            <a:ext cx="3474720" cy="3474720"/>
          </a:xfrm>
          <a:prstGeom prst="ellipse">
            <a:avLst/>
          </a:prstGeom>
          <a:solidFill>
            <a:srgbClr val="1A3080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0" y="0"/>
            <a:ext cx="5943600" cy="7315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5029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/>
          <p:nvPr/>
        </p:nvSpPr>
        <p:spPr>
          <a:xfrm>
            <a:off x="457200" y="118872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GB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LexCounsel AI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57200" y="20574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800"/>
              <a:buFont typeface="Calibri"/>
              <a:buNone/>
            </a:pPr>
            <a:r>
              <a:rPr b="0" i="1" lang="en-GB" sz="18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Intelligent Legal Document Assistant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457200" y="2468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500"/>
              <a:buFont typeface="Calibri"/>
              <a:buNone/>
            </a:pPr>
            <a:r>
              <a:rPr b="0" i="0" lang="en-GB" sz="15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using Retrieval-Augmented Generation (RAG)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457200" y="2971800"/>
            <a:ext cx="5486400" cy="36576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457200" y="31546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103120" y="31546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Ramesh K N  |  USN: 1CR22AI094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457200" y="34747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Institution: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2103120" y="34747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CMR Institute of Technology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457200" y="37947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Academic Year: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103120" y="37947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4B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Why do we need an AI-powered legal document assistant?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57200" y="1234440"/>
            <a:ext cx="3931920" cy="1600200"/>
          </a:xfrm>
          <a:prstGeom prst="roundRect">
            <a:avLst>
              <a:gd fmla="val 6857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1143000" y="13716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Time-Consuming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640080" y="1828800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Legal professionals spend hours manually scanning contracts, agreements &amp; statutes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754880" y="1234440"/>
            <a:ext cx="3931920" cy="1600200"/>
          </a:xfrm>
          <a:prstGeom prst="roundRect">
            <a:avLst>
              <a:gd fmla="val 6857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5440680" y="13716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Error-Prone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937760" y="1828800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Human reviewers miss clauses under fatigue; critical obligations get overlooked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57200" y="3063240"/>
            <a:ext cx="3931920" cy="1600200"/>
          </a:xfrm>
          <a:prstGeom prst="roundRect">
            <a:avLst>
              <a:gd fmla="val 6857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246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1143000" y="32004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Keyword Failure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40080" y="3657600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Keyword search fails with synonyms &amp; paraphrases — missing semantically equivalent clauses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754880" y="3063240"/>
            <a:ext cx="3931920" cy="1600200"/>
          </a:xfrm>
          <a:prstGeom prst="roundRect">
            <a:avLst>
              <a:gd fmla="val 6857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3246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/>
          <p:nvPr/>
        </p:nvSpPr>
        <p:spPr>
          <a:xfrm>
            <a:off x="5440680" y="320040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Expertise Barrier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937760" y="3657600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Non-lawyers cannot navigate dense legal language without expensive professional help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09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4A6090"/>
                </a:solidFill>
                <a:latin typeface="Calibri"/>
                <a:ea typeface="Calibri"/>
                <a:cs typeface="Calibri"/>
                <a:sym typeface="Calibri"/>
              </a:rPr>
              <a:t>2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65760" y="777240"/>
            <a:ext cx="393192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9144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/>
          <p:nvPr/>
        </p:nvSpPr>
        <p:spPr>
          <a:xfrm>
            <a:off x="1024128" y="86868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Secure Document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1024128" y="1216152"/>
            <a:ext cx="3154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Upload &amp; manage legal PDFs via a secure, authenticated web interface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4617720" y="777240"/>
            <a:ext cx="393192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91440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5276088" y="86868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Automated Text 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5276088" y="1216152"/>
            <a:ext cx="3154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Extract text, semantically chunk, and embed document content automatically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65760" y="2103120"/>
            <a:ext cx="393192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22402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>
            <a:off x="1024128" y="219456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Semantic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1024128" y="2542032"/>
            <a:ext cx="3154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Identify most relevant document sections using vector similarity search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617720" y="2103120"/>
            <a:ext cx="393192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4880" y="224028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/>
          <p:nvPr/>
        </p:nvSpPr>
        <p:spPr>
          <a:xfrm>
            <a:off x="5276088" y="219456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AI-Powered Q&amp;A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5276088" y="2542032"/>
            <a:ext cx="3154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Generate context-aware answers with Google Gemini 1.5 Flash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365760" y="3429000"/>
            <a:ext cx="393192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" y="356616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1024128" y="352044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Source Attribution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1024128" y="3867912"/>
            <a:ext cx="3154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Display source document chunks for every generated answer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617720" y="3429000"/>
            <a:ext cx="393192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4880" y="356616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/>
          <p:nvPr/>
        </p:nvSpPr>
        <p:spPr>
          <a:xfrm>
            <a:off x="5276088" y="3520440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Production Deployment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5276088" y="3867912"/>
            <a:ext cx="31546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Deploy frontend on Vercel and backend on Render with Swagger API docs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4B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Existing System vs Proposed System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457200" y="1097280"/>
            <a:ext cx="2560320" cy="53035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548640" y="1097280"/>
            <a:ext cx="2377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063240" y="1097280"/>
            <a:ext cx="2743200" cy="53035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3154680" y="1097280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Existing Systems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5852160" y="1097280"/>
            <a:ext cx="2926080" cy="53035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5943600" y="1097280"/>
            <a:ext cx="2743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LexCounsel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457200" y="1627632"/>
            <a:ext cx="2560320" cy="530352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548640" y="1627632"/>
            <a:ext cx="2377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Search 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3063240" y="1627632"/>
            <a:ext cx="2743200" cy="530352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3154680" y="162763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Keyword / Boolean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5852160" y="1627632"/>
            <a:ext cx="2926080" cy="530352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5943600" y="1627632"/>
            <a:ext cx="2743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Semantic Vector 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57200" y="2157984"/>
            <a:ext cx="2560320" cy="530352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48640" y="2157984"/>
            <a:ext cx="2377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AI Capability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3063240" y="2157984"/>
            <a:ext cx="2743200" cy="530352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3154680" y="2157984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None / Generic 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5852160" y="2157984"/>
            <a:ext cx="2926080" cy="530352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5943600" y="2157984"/>
            <a:ext cx="2743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RAG-Grounded Gemini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57200" y="2688336"/>
            <a:ext cx="2560320" cy="530352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48640" y="2688336"/>
            <a:ext cx="2377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Source Attribution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3063240" y="2688336"/>
            <a:ext cx="2743200" cy="530352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3154680" y="2688336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Absent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852160" y="2688336"/>
            <a:ext cx="2926080" cy="530352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943600" y="2688336"/>
            <a:ext cx="2743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Chunk-Level Citations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457200" y="3218688"/>
            <a:ext cx="2560320" cy="530352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48640" y="3218688"/>
            <a:ext cx="2377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Hallucination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3063240" y="3218688"/>
            <a:ext cx="2743200" cy="530352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3154680" y="3218688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852160" y="3218688"/>
            <a:ext cx="2926080" cy="530352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943600" y="3218688"/>
            <a:ext cx="2743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Low (Document-Grounded)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457200" y="3749040"/>
            <a:ext cx="2560320" cy="530352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48640" y="3749040"/>
            <a:ext cx="2377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User Accessibility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3063240" y="3749040"/>
            <a:ext cx="2743200" cy="530352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3154680" y="3749040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Expert Users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852160" y="3749040"/>
            <a:ext cx="2926080" cy="530352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943600" y="3749040"/>
            <a:ext cx="2743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Any Literate User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457200" y="4279392"/>
            <a:ext cx="2560320" cy="530352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48640" y="4279392"/>
            <a:ext cx="2377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Deployment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3063240" y="4279392"/>
            <a:ext cx="2743200" cy="530352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3154680" y="427939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High ($$$)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852160" y="4279392"/>
            <a:ext cx="2926080" cy="530352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943600" y="4279392"/>
            <a:ext cx="2743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Free Tier Cloud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09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4A6090"/>
                </a:solidFill>
                <a:latin typeface="Calibri"/>
                <a:ea typeface="Calibri"/>
                <a:cs typeface="Calibri"/>
                <a:sym typeface="Calibri"/>
              </a:rPr>
              <a:t>4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457200" y="777240"/>
            <a:ext cx="24688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1417320" y="941832"/>
            <a:ext cx="548640" cy="548640"/>
          </a:xfrm>
          <a:prstGeom prst="ellipse">
            <a:avLst/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0" y="9784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/>
          <p:nvPr/>
        </p:nvSpPr>
        <p:spPr>
          <a:xfrm>
            <a:off x="457200" y="158191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45720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React + TypeScript + Vite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3200400" y="777240"/>
            <a:ext cx="24688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4160520" y="941832"/>
            <a:ext cx="548640" cy="548640"/>
          </a:xfrm>
          <a:prstGeom prst="ellipse">
            <a:avLst/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0" y="9784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/>
          <p:nvPr/>
        </p:nvSpPr>
        <p:spPr>
          <a:xfrm>
            <a:off x="3200400" y="158191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320040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FastAPI (Python)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943600" y="777240"/>
            <a:ext cx="24688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903720" y="941832"/>
            <a:ext cx="548640" cy="548640"/>
          </a:xfrm>
          <a:prstGeom prst="ellipse">
            <a:avLst/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49440" y="9784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/>
          <p:nvPr/>
        </p:nvSpPr>
        <p:spPr>
          <a:xfrm>
            <a:off x="5943600" y="158191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5943600" y="187452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457200" y="2697480"/>
            <a:ext cx="24688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1417320" y="2862072"/>
            <a:ext cx="548640" cy="548640"/>
          </a:xfrm>
          <a:prstGeom prst="ellipse">
            <a:avLst/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3040" y="28986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457200" y="350215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Vector 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457200" y="37947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3200400" y="2697480"/>
            <a:ext cx="24688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4160520" y="2862072"/>
            <a:ext cx="548640" cy="548640"/>
          </a:xfrm>
          <a:prstGeom prst="ellipse">
            <a:avLst/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06240" y="28986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/>
          <p:nvPr/>
        </p:nvSpPr>
        <p:spPr>
          <a:xfrm>
            <a:off x="3200400" y="350215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AI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3200400" y="37947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Google Gemini 1.5 Flash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5943600" y="2697480"/>
            <a:ext cx="246888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6903720" y="2862072"/>
            <a:ext cx="548640" cy="548640"/>
          </a:xfrm>
          <a:prstGeom prst="ellipse">
            <a:avLst/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49440" y="28986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/>
          <p:nvPr/>
        </p:nvSpPr>
        <p:spPr>
          <a:xfrm>
            <a:off x="5943600" y="350215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A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5A6A8A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943600" y="37947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Vercel (FE) + Render (BE)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5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4B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Three-tier client-server model with vector store and AI services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74320" y="1280160"/>
            <a:ext cx="1463040" cy="640080"/>
          </a:xfrm>
          <a:prstGeom prst="roundRect">
            <a:avLst>
              <a:gd fmla="val 14286" name="adj"/>
            </a:avLst>
          </a:prstGeom>
          <a:solidFill>
            <a:srgbClr val="122368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274320" y="128016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(Browser)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2103120" y="1280160"/>
            <a:ext cx="1828800" cy="640080"/>
          </a:xfrm>
          <a:prstGeom prst="roundRect">
            <a:avLst>
              <a:gd fmla="val 14286" name="adj"/>
            </a:avLst>
          </a:prstGeom>
          <a:solidFill>
            <a:srgbClr val="1A308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2103120" y="1280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SPA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(Vercel)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4297680" y="1280160"/>
            <a:ext cx="1828800" cy="640080"/>
          </a:xfrm>
          <a:prstGeom prst="roundRect">
            <a:avLst>
              <a:gd fmla="val 14286" name="adj"/>
            </a:avLst>
          </a:prstGeom>
          <a:solidFill>
            <a:srgbClr val="1A308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4297680" y="1280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(Render)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297680" y="2651760"/>
            <a:ext cx="1828800" cy="640080"/>
          </a:xfrm>
          <a:prstGeom prst="roundRect">
            <a:avLst>
              <a:gd fmla="val 14286" name="adj"/>
            </a:avLst>
          </a:prstGeom>
          <a:solidFill>
            <a:srgbClr val="1A407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4297680" y="2615123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(Metadata)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4297680" y="3566160"/>
            <a:ext cx="1828800" cy="640080"/>
          </a:xfrm>
          <a:prstGeom prst="roundRect">
            <a:avLst>
              <a:gd fmla="val 14286" name="adj"/>
            </a:avLst>
          </a:prstGeom>
          <a:solidFill>
            <a:srgbClr val="1A407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4297680" y="3566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(Vectors)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675120" y="1280160"/>
            <a:ext cx="2011680" cy="640080"/>
          </a:xfrm>
          <a:prstGeom prst="roundRect">
            <a:avLst>
              <a:gd fmla="val 14286" name="adj"/>
            </a:avLst>
          </a:prstGeom>
          <a:solidFill>
            <a:srgbClr val="1A407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6675120" y="12801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Gemini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1.5 Flash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20"/>
          <p:cNvCxnSpPr/>
          <p:nvPr/>
        </p:nvCxnSpPr>
        <p:spPr>
          <a:xfrm>
            <a:off x="1755648" y="1572768"/>
            <a:ext cx="347472" cy="0"/>
          </a:xfrm>
          <a:prstGeom prst="straightConnector1">
            <a:avLst/>
          </a:prstGeom>
          <a:noFill/>
          <a:ln cap="flat" cmpd="sng" w="19050">
            <a:solidFill>
              <a:srgbClr val="E8C87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4" name="Google Shape;234;p20"/>
          <p:cNvSpPr/>
          <p:nvPr/>
        </p:nvSpPr>
        <p:spPr>
          <a:xfrm>
            <a:off x="1709928" y="137160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HTTPS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20"/>
          <p:cNvCxnSpPr/>
          <p:nvPr/>
        </p:nvCxnSpPr>
        <p:spPr>
          <a:xfrm>
            <a:off x="3950208" y="1572768"/>
            <a:ext cx="347472" cy="0"/>
          </a:xfrm>
          <a:prstGeom prst="straightConnector1">
            <a:avLst/>
          </a:prstGeom>
          <a:noFill/>
          <a:ln cap="flat" cmpd="sng" w="19050">
            <a:solidFill>
              <a:srgbClr val="E8C87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6" name="Google Shape;236;p20"/>
          <p:cNvSpPr/>
          <p:nvPr/>
        </p:nvSpPr>
        <p:spPr>
          <a:xfrm>
            <a:off x="3904488" y="137160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20"/>
          <p:cNvCxnSpPr/>
          <p:nvPr/>
        </p:nvCxnSpPr>
        <p:spPr>
          <a:xfrm>
            <a:off x="6144768" y="1572768"/>
            <a:ext cx="530352" cy="0"/>
          </a:xfrm>
          <a:prstGeom prst="straightConnector1">
            <a:avLst/>
          </a:prstGeom>
          <a:noFill/>
          <a:ln cap="flat" cmpd="sng" w="19050">
            <a:solidFill>
              <a:srgbClr val="E8C87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8" name="Google Shape;238;p20"/>
          <p:cNvSpPr/>
          <p:nvPr/>
        </p:nvSpPr>
        <p:spPr>
          <a:xfrm>
            <a:off x="6099048" y="137160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Gemini API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20"/>
          <p:cNvCxnSpPr/>
          <p:nvPr/>
        </p:nvCxnSpPr>
        <p:spPr>
          <a:xfrm>
            <a:off x="5212080" y="1938528"/>
            <a:ext cx="0" cy="713232"/>
          </a:xfrm>
          <a:prstGeom prst="straightConnector1">
            <a:avLst/>
          </a:prstGeom>
          <a:noFill/>
          <a:ln cap="flat" cmpd="sng" w="19050">
            <a:solidFill>
              <a:srgbClr val="E8C87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0" name="Google Shape;240;p20"/>
          <p:cNvSpPr/>
          <p:nvPr/>
        </p:nvSpPr>
        <p:spPr>
          <a:xfrm>
            <a:off x="5166360" y="173736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20"/>
          <p:cNvCxnSpPr>
            <a:stCxn id="228" idx="2"/>
            <a:endCxn id="230" idx="0"/>
          </p:cNvCxnSpPr>
          <p:nvPr/>
        </p:nvCxnSpPr>
        <p:spPr>
          <a:xfrm>
            <a:off x="5212080" y="3255323"/>
            <a:ext cx="0" cy="310800"/>
          </a:xfrm>
          <a:prstGeom prst="straightConnector1">
            <a:avLst/>
          </a:prstGeom>
          <a:noFill/>
          <a:ln cap="flat" cmpd="sng" w="19050">
            <a:solidFill>
              <a:srgbClr val="E8C87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2" name="Google Shape;242;p20"/>
          <p:cNvSpPr/>
          <p:nvPr/>
        </p:nvSpPr>
        <p:spPr>
          <a:xfrm>
            <a:off x="5166360" y="3310160"/>
            <a:ext cx="73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Vec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274320" y="4297680"/>
            <a:ext cx="8503920" cy="640080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457200" y="4334256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▸  React SPA → HTTPS → FastAPI → SQL → PostgreSQL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3291840" y="4334256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▸  FastAPI → Vector Ops → ChromaDB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6126480" y="4334256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▸  FastAPI → Gemini API → Answer Generation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09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4A6090"/>
                </a:solidFill>
                <a:latin typeface="Calibri"/>
                <a:ea typeface="Calibri"/>
                <a:cs typeface="Calibri"/>
                <a:sym typeface="Calibri"/>
              </a:rPr>
              <a:t>6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Project Workflow – RAG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365760" y="777240"/>
            <a:ext cx="3977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457200" y="841248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📥  Document Ingestion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502920" y="1325880"/>
            <a:ext cx="3611880" cy="548640"/>
          </a:xfrm>
          <a:prstGeom prst="roundRect">
            <a:avLst>
              <a:gd fmla="val 13333" name="adj"/>
            </a:avLst>
          </a:prstGeom>
          <a:solidFill>
            <a:srgbClr val="E8EEF8"/>
          </a:solidFill>
          <a:ln cap="flat" cmpd="sng" w="12700">
            <a:solidFill>
              <a:srgbClr val="B0C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548640" y="132588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914400" y="139903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User Uploads PDF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2011680" y="1874520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02920" y="2020824"/>
            <a:ext cx="3611880" cy="548640"/>
          </a:xfrm>
          <a:prstGeom prst="roundRect">
            <a:avLst>
              <a:gd fmla="val 13333" name="adj"/>
            </a:avLst>
          </a:prstGeom>
          <a:solidFill>
            <a:srgbClr val="D0DBF5"/>
          </a:solidFill>
          <a:ln cap="flat" cmpd="sng" w="12700">
            <a:solidFill>
              <a:srgbClr val="B0C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548640" y="2020824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914400" y="2093976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Text Extraction (PyMuPDF)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2011680" y="256946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502920" y="2715768"/>
            <a:ext cx="3611880" cy="548640"/>
          </a:xfrm>
          <a:prstGeom prst="roundRect">
            <a:avLst>
              <a:gd fmla="val 13333" name="adj"/>
            </a:avLst>
          </a:prstGeom>
          <a:solidFill>
            <a:srgbClr val="E8EEF8"/>
          </a:solidFill>
          <a:ln cap="flat" cmpd="sng" w="12700">
            <a:solidFill>
              <a:srgbClr val="B0C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548640" y="2715768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914400" y="27889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Chunking (500-char + 100 overlap)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2011680" y="3264408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502920" y="3410712"/>
            <a:ext cx="3611880" cy="548640"/>
          </a:xfrm>
          <a:prstGeom prst="roundRect">
            <a:avLst>
              <a:gd fmla="val 13333" name="adj"/>
            </a:avLst>
          </a:prstGeom>
          <a:solidFill>
            <a:srgbClr val="D0DBF5"/>
          </a:solidFill>
          <a:ln cap="flat" cmpd="sng" w="12700">
            <a:solidFill>
              <a:srgbClr val="B0C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548640" y="341071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914400" y="3483864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Embedding (HashingVectorizer)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2011680" y="3959352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502920" y="4105656"/>
            <a:ext cx="3611880" cy="548640"/>
          </a:xfrm>
          <a:prstGeom prst="roundRect">
            <a:avLst>
              <a:gd fmla="val 13333" name="adj"/>
            </a:avLst>
          </a:prstGeom>
          <a:solidFill>
            <a:srgbClr val="E8EEF8"/>
          </a:solidFill>
          <a:ln cap="flat" cmpd="sng" w="12700">
            <a:solidFill>
              <a:srgbClr val="B0C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548640" y="4105656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914400" y="417880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Store in ChromaDB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4663440" y="777240"/>
            <a:ext cx="3977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4754880" y="841248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💬  Query Answering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4800600" y="1325880"/>
            <a:ext cx="3611880" cy="548640"/>
          </a:xfrm>
          <a:prstGeom prst="roundRect">
            <a:avLst>
              <a:gd fmla="val 13333" name="adj"/>
            </a:avLst>
          </a:prstGeom>
          <a:solidFill>
            <a:srgbClr val="E8EEF8"/>
          </a:solidFill>
          <a:ln cap="flat" cmpd="sng" w="12700">
            <a:solidFill>
              <a:srgbClr val="B0C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4846320" y="132588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5212080" y="139903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User Asks Question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6309360" y="1874520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4800600" y="2020824"/>
            <a:ext cx="3611880" cy="548640"/>
          </a:xfrm>
          <a:prstGeom prst="roundRect">
            <a:avLst>
              <a:gd fmla="val 13333" name="adj"/>
            </a:avLst>
          </a:prstGeom>
          <a:solidFill>
            <a:srgbClr val="D0DBF5"/>
          </a:solidFill>
          <a:ln cap="flat" cmpd="sng" w="12700">
            <a:solidFill>
              <a:srgbClr val="B0C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4846320" y="2020824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5212080" y="2093976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Vectorise 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6309360" y="2569464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4800600" y="2715768"/>
            <a:ext cx="3611880" cy="548640"/>
          </a:xfrm>
          <a:prstGeom prst="roundRect">
            <a:avLst>
              <a:gd fmla="val 13333" name="adj"/>
            </a:avLst>
          </a:prstGeom>
          <a:solidFill>
            <a:srgbClr val="E8EEF8"/>
          </a:solidFill>
          <a:ln cap="flat" cmpd="sng" w="12700">
            <a:solidFill>
              <a:srgbClr val="B0C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4846320" y="2715768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5212080" y="27889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ChromaDB Top-5 Retrieval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6309360" y="3264408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4800600" y="3410712"/>
            <a:ext cx="3611880" cy="548640"/>
          </a:xfrm>
          <a:prstGeom prst="roundRect">
            <a:avLst>
              <a:gd fmla="val 13333" name="adj"/>
            </a:avLst>
          </a:prstGeom>
          <a:solidFill>
            <a:srgbClr val="D0DBF5"/>
          </a:solidFill>
          <a:ln cap="flat" cmpd="sng" w="12700">
            <a:solidFill>
              <a:srgbClr val="B0C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4846320" y="341071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5212080" y="3483864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Context Prompt → Gemini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6309360" y="3959352"/>
            <a:ext cx="457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4800600" y="4105656"/>
            <a:ext cx="3611880" cy="548640"/>
          </a:xfrm>
          <a:prstGeom prst="roundRect">
            <a:avLst>
              <a:gd fmla="val 13333" name="adj"/>
            </a:avLst>
          </a:prstGeom>
          <a:solidFill>
            <a:srgbClr val="E8EEF8"/>
          </a:solidFill>
          <a:ln cap="flat" cmpd="sng" w="12700">
            <a:solidFill>
              <a:srgbClr val="B0C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4846320" y="4105656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5212080" y="417880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Answer + Source Chunks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21"/>
          <p:cNvCxnSpPr/>
          <p:nvPr/>
        </p:nvCxnSpPr>
        <p:spPr>
          <a:xfrm>
            <a:off x="4480560" y="777240"/>
            <a:ext cx="0" cy="4160520"/>
          </a:xfrm>
          <a:prstGeom prst="straightConnector1">
            <a:avLst/>
          </a:prstGeom>
          <a:noFill/>
          <a:ln cap="flat" cmpd="sng" w="12700">
            <a:solidFill>
              <a:srgbClr val="C0C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21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7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4B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Frontend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React + TypeScript SPA — Component Hierarchy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457200" y="10972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ourier New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ourier New"/>
                <a:ea typeface="Courier New"/>
                <a:cs typeface="Courier New"/>
                <a:sym typeface="Courier New"/>
              </a:rPr>
              <a:t>📁 src/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640080" y="16459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ourier New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ourier New"/>
                <a:ea typeface="Courier New"/>
                <a:cs typeface="Courier New"/>
                <a:sym typeface="Courier New"/>
              </a:rPr>
              <a:t>📁 assets/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640080" y="20116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ourier New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ourier New"/>
                <a:ea typeface="Courier New"/>
                <a:cs typeface="Courier New"/>
                <a:sym typeface="Courier New"/>
              </a:rPr>
              <a:t>📁 components/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1005840" y="24231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ourier New"/>
                <a:ea typeface="Courier New"/>
                <a:cs typeface="Courier New"/>
                <a:sym typeface="Courier New"/>
              </a:rPr>
              <a:t>📄 ChatBox  ChatMessage  DocumentList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1005840" y="27432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ourier New"/>
                <a:ea typeface="Courier New"/>
                <a:cs typeface="Courier New"/>
                <a:sym typeface="Courier New"/>
              </a:rPr>
              <a:t>📄 Navbar  Sidebar  UploadDocument  Welcome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ourier New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ourier New"/>
                <a:ea typeface="Courier New"/>
                <a:cs typeface="Courier New"/>
                <a:sym typeface="Courier New"/>
              </a:rPr>
              <a:t>📁 context/ → AuthContext.tsx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ourier New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ourier New"/>
                <a:ea typeface="Courier New"/>
                <a:cs typeface="Courier New"/>
                <a:sym typeface="Courier New"/>
              </a:rPr>
              <a:t>📁 pages/ → Dashboard  Login  Register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640080" y="38862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ourier New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ourier New"/>
                <a:ea typeface="Courier New"/>
                <a:cs typeface="Courier New"/>
                <a:sym typeface="Courier New"/>
              </a:rPr>
              <a:t>📁 services/ → api.ts (Axios)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5029200" y="1097280"/>
            <a:ext cx="3840480" cy="804672"/>
          </a:xfrm>
          <a:prstGeom prst="roundRect">
            <a:avLst>
              <a:gd fmla="val 11364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636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2"/>
          <p:cNvSpPr/>
          <p:nvPr/>
        </p:nvSpPr>
        <p:spPr>
          <a:xfrm>
            <a:off x="5669280" y="117043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React Hooks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5669280" y="148132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useState, useEffect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5029200" y="2057400"/>
            <a:ext cx="3840480" cy="804672"/>
          </a:xfrm>
          <a:prstGeom prst="roundRect">
            <a:avLst>
              <a:gd fmla="val 11364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9" name="Google Shape;3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2240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2"/>
          <p:cNvSpPr/>
          <p:nvPr/>
        </p:nvSpPr>
        <p:spPr>
          <a:xfrm>
            <a:off x="5669280" y="213055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JWT Memory Storage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5669280" y="244144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Not localStorage (XSS-safe)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5029200" y="3017520"/>
            <a:ext cx="3840480" cy="804672"/>
          </a:xfrm>
          <a:prstGeom prst="roundRect">
            <a:avLst>
              <a:gd fmla="val 11364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3" name="Google Shape;3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6360" y="32004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2"/>
          <p:cNvSpPr/>
          <p:nvPr/>
        </p:nvSpPr>
        <p:spPr>
          <a:xfrm>
            <a:off x="5669280" y="309067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Vercel CI/CD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5669280" y="340156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Auto-deploy on main push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5029200" y="3977640"/>
            <a:ext cx="3840480" cy="804672"/>
          </a:xfrm>
          <a:prstGeom prst="roundRect">
            <a:avLst>
              <a:gd fmla="val 11364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7" name="Google Shape;32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66360" y="41605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2"/>
          <p:cNvSpPr/>
          <p:nvPr/>
        </p:nvSpPr>
        <p:spPr>
          <a:xfrm>
            <a:off x="5669280" y="4050792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Responsive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5669280" y="436168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CSS Flexbox + Grid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09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4A6090"/>
                </a:solidFill>
                <a:latin typeface="Calibri"/>
                <a:ea typeface="Calibri"/>
                <a:cs typeface="Calibri"/>
                <a:sym typeface="Calibri"/>
              </a:rPr>
              <a:t>8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Backend Architecture — FastAPI Modular Design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>
            <a:off x="548640" y="8686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Layer  (api/auth.py  |  api/document.py)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365760" y="1554480"/>
            <a:ext cx="8412480" cy="594360"/>
          </a:xfrm>
          <a:prstGeom prst="rect">
            <a:avLst/>
          </a:prstGeom>
          <a:solidFill>
            <a:srgbClr val="1E4D8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548640" y="15544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Layer  (config · database · security · dependencies)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365760" y="2240280"/>
            <a:ext cx="8412480" cy="594360"/>
          </a:xfrm>
          <a:prstGeom prst="rect">
            <a:avLst/>
          </a:prstGeom>
          <a:solidFill>
            <a:srgbClr val="235AA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3"/>
          <p:cNvSpPr/>
          <p:nvPr/>
        </p:nvSpPr>
        <p:spPr>
          <a:xfrm>
            <a:off x="548640" y="22402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Models Layer  (user.py · document.py · base.py)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365760" y="2926080"/>
            <a:ext cx="8412480" cy="594360"/>
          </a:xfrm>
          <a:prstGeom prst="rect">
            <a:avLst/>
          </a:prstGeom>
          <a:solidFill>
            <a:srgbClr val="2966B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548640" y="29260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Schemas Layer  (Pydantic request / response validation)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365760" y="36576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Services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365760" y="3977640"/>
            <a:ext cx="2606040" cy="411480"/>
          </a:xfrm>
          <a:prstGeom prst="roundRect">
            <a:avLst>
              <a:gd fmla="val 17778" name="adj"/>
            </a:avLst>
          </a:prstGeom>
          <a:solidFill>
            <a:srgbClr val="0B1F4B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3"/>
          <p:cNvSpPr/>
          <p:nvPr/>
        </p:nvSpPr>
        <p:spPr>
          <a:xfrm>
            <a:off x="365760" y="397764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PDF Processor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3200400" y="3977640"/>
            <a:ext cx="2606040" cy="411480"/>
          </a:xfrm>
          <a:prstGeom prst="roundRect">
            <a:avLst>
              <a:gd fmla="val 17778" name="adj"/>
            </a:avLst>
          </a:prstGeom>
          <a:solidFill>
            <a:srgbClr val="0B1F4B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3"/>
          <p:cNvSpPr/>
          <p:nvPr/>
        </p:nvSpPr>
        <p:spPr>
          <a:xfrm>
            <a:off x="3200400" y="397764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Embedding Gen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6035040" y="3977640"/>
            <a:ext cx="2606040" cy="411480"/>
          </a:xfrm>
          <a:prstGeom prst="roundRect">
            <a:avLst>
              <a:gd fmla="val 17778" name="adj"/>
            </a:avLst>
          </a:prstGeom>
          <a:solidFill>
            <a:srgbClr val="0B1F4B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3"/>
          <p:cNvSpPr/>
          <p:nvPr/>
        </p:nvSpPr>
        <p:spPr>
          <a:xfrm>
            <a:off x="6035040" y="397764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365760" y="4480560"/>
            <a:ext cx="2606040" cy="411480"/>
          </a:xfrm>
          <a:prstGeom prst="roundRect">
            <a:avLst>
              <a:gd fmla="val 17778" name="adj"/>
            </a:avLst>
          </a:prstGeom>
          <a:solidFill>
            <a:srgbClr val="0B1F4B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3"/>
          <p:cNvSpPr/>
          <p:nvPr/>
        </p:nvSpPr>
        <p:spPr>
          <a:xfrm>
            <a:off x="365760" y="448056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Gemini Integration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3200400" y="4480560"/>
            <a:ext cx="2606040" cy="411480"/>
          </a:xfrm>
          <a:prstGeom prst="roundRect">
            <a:avLst>
              <a:gd fmla="val 17778" name="adj"/>
            </a:avLst>
          </a:prstGeom>
          <a:solidFill>
            <a:srgbClr val="0B1F4B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3"/>
          <p:cNvSpPr/>
          <p:nvPr/>
        </p:nvSpPr>
        <p:spPr>
          <a:xfrm>
            <a:off x="3200400" y="448056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Auth Service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6035040" y="4480560"/>
            <a:ext cx="2606040" cy="411480"/>
          </a:xfrm>
          <a:prstGeom prst="roundRect">
            <a:avLst>
              <a:gd fmla="val 17778" name="adj"/>
            </a:avLst>
          </a:prstGeom>
          <a:solidFill>
            <a:srgbClr val="0B1F4B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3"/>
          <p:cNvSpPr/>
          <p:nvPr/>
        </p:nvSpPr>
        <p:spPr>
          <a:xfrm>
            <a:off x="6035040" y="448056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Document Manager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9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4B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4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Database Design — ER Schema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4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548640" y="1554480"/>
            <a:ext cx="3474720" cy="420624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2A4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4"/>
          <p:cNvSpPr/>
          <p:nvPr/>
        </p:nvSpPr>
        <p:spPr>
          <a:xfrm>
            <a:off x="685800" y="1554480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C9A84C"/>
                </a:solidFill>
                <a:latin typeface="Courier New"/>
                <a:ea typeface="Courier New"/>
                <a:cs typeface="Courier New"/>
                <a:sym typeface="Courier New"/>
              </a:rPr>
              <a:t>id (PK)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548640" y="1975104"/>
            <a:ext cx="3474720" cy="420624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2A4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4"/>
          <p:cNvSpPr/>
          <p:nvPr/>
        </p:nvSpPr>
        <p:spPr>
          <a:xfrm>
            <a:off x="685800" y="1975104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548640" y="2395728"/>
            <a:ext cx="3474720" cy="420624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2A4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4"/>
          <p:cNvSpPr/>
          <p:nvPr/>
        </p:nvSpPr>
        <p:spPr>
          <a:xfrm>
            <a:off x="685800" y="2395728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email (UNIQUE)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4"/>
          <p:cNvSpPr/>
          <p:nvPr/>
        </p:nvSpPr>
        <p:spPr>
          <a:xfrm>
            <a:off x="548640" y="2816352"/>
            <a:ext cx="3474720" cy="420624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2A4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4"/>
          <p:cNvSpPr/>
          <p:nvPr/>
        </p:nvSpPr>
        <p:spPr>
          <a:xfrm>
            <a:off x="685800" y="2816352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hashed_password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4"/>
          <p:cNvSpPr/>
          <p:nvPr/>
        </p:nvSpPr>
        <p:spPr>
          <a:xfrm>
            <a:off x="548640" y="3236976"/>
            <a:ext cx="3474720" cy="420624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2A4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4"/>
          <p:cNvSpPr/>
          <p:nvPr/>
        </p:nvSpPr>
        <p:spPr>
          <a:xfrm>
            <a:off x="685800" y="3236976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created_at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4"/>
          <p:cNvSpPr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400"/>
              <a:buFont typeface="Calibri"/>
              <a:buNone/>
            </a:pPr>
            <a:r>
              <a:rPr b="1" i="0" lang="en-GB" sz="14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documents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5029200" y="1554480"/>
            <a:ext cx="3657600" cy="420624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2A4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4"/>
          <p:cNvSpPr/>
          <p:nvPr/>
        </p:nvSpPr>
        <p:spPr>
          <a:xfrm>
            <a:off x="5166360" y="1554480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050"/>
              <a:buFont typeface="Courier New"/>
              <a:buNone/>
            </a:pPr>
            <a:r>
              <a:rPr b="0" i="0" lang="en-GB" sz="1050" u="none" cap="none" strike="noStrike">
                <a:solidFill>
                  <a:srgbClr val="E8C870"/>
                </a:solidFill>
                <a:latin typeface="Courier New"/>
                <a:ea typeface="Courier New"/>
                <a:cs typeface="Courier New"/>
                <a:sym typeface="Courier New"/>
              </a:rPr>
              <a:t>id (PK)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5029200" y="1975104"/>
            <a:ext cx="3657600" cy="420624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2A4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4"/>
          <p:cNvSpPr/>
          <p:nvPr/>
        </p:nvSpPr>
        <p:spPr>
          <a:xfrm>
            <a:off x="5166360" y="1975104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050"/>
              <a:buFont typeface="Courier New"/>
              <a:buNone/>
            </a:pPr>
            <a:r>
              <a:rPr b="0" i="0" lang="en-GB" sz="1050" u="none" cap="none" strike="noStrike">
                <a:solidFill>
                  <a:srgbClr val="E8C870"/>
                </a:solidFill>
                <a:latin typeface="Courier New"/>
                <a:ea typeface="Courier New"/>
                <a:cs typeface="Courier New"/>
                <a:sym typeface="Courier New"/>
              </a:rPr>
              <a:t>user_id (FK→users)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5029200" y="2395728"/>
            <a:ext cx="3657600" cy="420624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2A4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4"/>
          <p:cNvSpPr/>
          <p:nvPr/>
        </p:nvSpPr>
        <p:spPr>
          <a:xfrm>
            <a:off x="5166360" y="2395728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GB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5029200" y="2816352"/>
            <a:ext cx="3657600" cy="420624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2A4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4"/>
          <p:cNvSpPr/>
          <p:nvPr/>
        </p:nvSpPr>
        <p:spPr>
          <a:xfrm>
            <a:off x="5166360" y="2816352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GB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chroma_collection_id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4"/>
          <p:cNvSpPr/>
          <p:nvPr/>
        </p:nvSpPr>
        <p:spPr>
          <a:xfrm>
            <a:off x="5029200" y="3236976"/>
            <a:ext cx="3657600" cy="420624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2A4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4"/>
          <p:cNvSpPr/>
          <p:nvPr/>
        </p:nvSpPr>
        <p:spPr>
          <a:xfrm>
            <a:off x="5166360" y="3236976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GB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page_count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5029200" y="3657600"/>
            <a:ext cx="3657600" cy="420624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2A4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4"/>
          <p:cNvSpPr/>
          <p:nvPr/>
        </p:nvSpPr>
        <p:spPr>
          <a:xfrm>
            <a:off x="5166360" y="3657600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GB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upload_time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5029200" y="4078224"/>
            <a:ext cx="3657600" cy="420624"/>
          </a:xfrm>
          <a:prstGeom prst="rect">
            <a:avLst/>
          </a:prstGeom>
          <a:solidFill>
            <a:srgbClr val="122368"/>
          </a:solidFill>
          <a:ln cap="flat" cmpd="sng" w="12700">
            <a:solidFill>
              <a:srgbClr val="2A4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"/>
          <p:cNvSpPr/>
          <p:nvPr/>
        </p:nvSpPr>
        <p:spPr>
          <a:xfrm>
            <a:off x="5166360" y="4078224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GB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file_size_kb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24"/>
          <p:cNvCxnSpPr/>
          <p:nvPr/>
        </p:nvCxnSpPr>
        <p:spPr>
          <a:xfrm>
            <a:off x="4023360" y="1828800"/>
            <a:ext cx="1005840" cy="0"/>
          </a:xfrm>
          <a:prstGeom prst="straightConnector1">
            <a:avLst/>
          </a:prstGeom>
          <a:noFill/>
          <a:ln cap="flat" cmpd="sng" w="25400">
            <a:solidFill>
              <a:srgbClr val="C9A84C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95" name="Google Shape;395;p24"/>
          <p:cNvSpPr/>
          <p:nvPr/>
        </p:nvSpPr>
        <p:spPr>
          <a:xfrm>
            <a:off x="4041648" y="157276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09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4A6090"/>
                </a:solidFill>
                <a:latin typeface="Calibri"/>
                <a:ea typeface="Calibri"/>
                <a:cs typeface="Calibri"/>
                <a:sym typeface="Calibri"/>
              </a:rPr>
              <a:t>10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5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Authentication &amp; Security Architecture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5"/>
          <p:cNvSpPr/>
          <p:nvPr/>
        </p:nvSpPr>
        <p:spPr>
          <a:xfrm>
            <a:off x="365760" y="768096"/>
            <a:ext cx="393192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5" name="Google Shape;4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90525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5"/>
          <p:cNvSpPr/>
          <p:nvPr/>
        </p:nvSpPr>
        <p:spPr>
          <a:xfrm>
            <a:off x="1024128" y="859536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JWT Authentication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1024128" y="1207008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HS256 signed tokens, 60-min expiry, Bearer header validation on all protected endpoints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5"/>
          <p:cNvSpPr/>
          <p:nvPr/>
        </p:nvSpPr>
        <p:spPr>
          <a:xfrm>
            <a:off x="4617720" y="768096"/>
            <a:ext cx="393192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9" name="Google Shape;40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90525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5"/>
          <p:cNvSpPr/>
          <p:nvPr/>
        </p:nvSpPr>
        <p:spPr>
          <a:xfrm>
            <a:off x="5276088" y="859536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Password Hashing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5"/>
          <p:cNvSpPr/>
          <p:nvPr/>
        </p:nvSpPr>
        <p:spPr>
          <a:xfrm>
            <a:off x="5276088" y="1207008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bcrypt with cost factor 12 — resistant to GPU brute-force attacks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5"/>
          <p:cNvSpPr/>
          <p:nvPr/>
        </p:nvSpPr>
        <p:spPr>
          <a:xfrm>
            <a:off x="365760" y="2103120"/>
            <a:ext cx="393192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3" name="Google Shape;41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2240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5"/>
          <p:cNvSpPr/>
          <p:nvPr/>
        </p:nvSpPr>
        <p:spPr>
          <a:xfrm>
            <a:off x="1024128" y="21945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CORS Protection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5"/>
          <p:cNvSpPr/>
          <p:nvPr/>
        </p:nvSpPr>
        <p:spPr>
          <a:xfrm>
            <a:off x="1024128" y="2542032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Requests permitted exclusively from Vercel origin — CSRF attack mitigated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5"/>
          <p:cNvSpPr/>
          <p:nvPr/>
        </p:nvSpPr>
        <p:spPr>
          <a:xfrm>
            <a:off x="4617720" y="2103120"/>
            <a:ext cx="393192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7" name="Google Shape;41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4880" y="2240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5"/>
          <p:cNvSpPr/>
          <p:nvPr/>
        </p:nvSpPr>
        <p:spPr>
          <a:xfrm>
            <a:off x="5276088" y="21945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Secret Management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5276088" y="2542032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All API keys &amp; DB credentials stored in Render encrypted env vars — never in source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5"/>
          <p:cNvSpPr/>
          <p:nvPr/>
        </p:nvSpPr>
        <p:spPr>
          <a:xfrm>
            <a:off x="365760" y="3438144"/>
            <a:ext cx="393192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1" name="Google Shape;42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2920" y="357530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5"/>
          <p:cNvSpPr/>
          <p:nvPr/>
        </p:nvSpPr>
        <p:spPr>
          <a:xfrm>
            <a:off x="1024128" y="352958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HTTPS Everywhere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5"/>
          <p:cNvSpPr/>
          <p:nvPr/>
        </p:nvSpPr>
        <p:spPr>
          <a:xfrm>
            <a:off x="1024128" y="3877056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TLS enforced on Vercel and Render; all client-server traffic encrypted in transit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5"/>
          <p:cNvSpPr/>
          <p:nvPr/>
        </p:nvSpPr>
        <p:spPr>
          <a:xfrm>
            <a:off x="4617720" y="3438144"/>
            <a:ext cx="3931920" cy="11704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5" name="Google Shape;42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4880" y="357530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5"/>
          <p:cNvSpPr/>
          <p:nvPr/>
        </p:nvSpPr>
        <p:spPr>
          <a:xfrm>
            <a:off x="5276088" y="352958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Data Isolation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5"/>
          <p:cNvSpPr/>
          <p:nvPr/>
        </p:nvSpPr>
        <p:spPr>
          <a:xfrm>
            <a:off x="5276088" y="3877056"/>
            <a:ext cx="31089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Documents logically isolated per user; deletion removes both PostgreSQL + ChromaDB 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11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4B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6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 (RAG) Pipeline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320040" y="1554480"/>
            <a:ext cx="1280160" cy="822960"/>
          </a:xfrm>
          <a:prstGeom prst="roundRect">
            <a:avLst>
              <a:gd fmla="val 11111" name="adj"/>
            </a:avLst>
          </a:prstGeom>
          <a:solidFill>
            <a:srgbClr val="122368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6"/>
          <p:cNvSpPr/>
          <p:nvPr/>
        </p:nvSpPr>
        <p:spPr>
          <a:xfrm>
            <a:off x="320040" y="1554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" name="Google Shape;437;p26"/>
          <p:cNvCxnSpPr/>
          <p:nvPr/>
        </p:nvCxnSpPr>
        <p:spPr>
          <a:xfrm>
            <a:off x="1600200" y="1965960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E8C87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38" name="Google Shape;438;p26"/>
          <p:cNvSpPr/>
          <p:nvPr/>
        </p:nvSpPr>
        <p:spPr>
          <a:xfrm>
            <a:off x="1691640" y="1554480"/>
            <a:ext cx="1280160" cy="822960"/>
          </a:xfrm>
          <a:prstGeom prst="roundRect">
            <a:avLst>
              <a:gd fmla="val 11111" name="adj"/>
            </a:avLst>
          </a:prstGeom>
          <a:solidFill>
            <a:srgbClr val="1A308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6"/>
          <p:cNvSpPr/>
          <p:nvPr/>
        </p:nvSpPr>
        <p:spPr>
          <a:xfrm>
            <a:off x="1691640" y="1554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(HashVec)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p26"/>
          <p:cNvCxnSpPr/>
          <p:nvPr/>
        </p:nvCxnSpPr>
        <p:spPr>
          <a:xfrm>
            <a:off x="2971800" y="1965960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E8C87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41" name="Google Shape;441;p26"/>
          <p:cNvSpPr/>
          <p:nvPr/>
        </p:nvSpPr>
        <p:spPr>
          <a:xfrm>
            <a:off x="3154680" y="1554480"/>
            <a:ext cx="1280160" cy="822960"/>
          </a:xfrm>
          <a:prstGeom prst="roundRect">
            <a:avLst>
              <a:gd fmla="val 11111" name="adj"/>
            </a:avLst>
          </a:prstGeom>
          <a:solidFill>
            <a:srgbClr val="1A407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6"/>
          <p:cNvSpPr/>
          <p:nvPr/>
        </p:nvSpPr>
        <p:spPr>
          <a:xfrm>
            <a:off x="3154680" y="1554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 (top-5)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p26"/>
          <p:cNvCxnSpPr/>
          <p:nvPr/>
        </p:nvCxnSpPr>
        <p:spPr>
          <a:xfrm>
            <a:off x="4434840" y="1965960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E8C87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44" name="Google Shape;444;p26"/>
          <p:cNvSpPr/>
          <p:nvPr/>
        </p:nvSpPr>
        <p:spPr>
          <a:xfrm>
            <a:off x="4663440" y="1554480"/>
            <a:ext cx="1280160" cy="822960"/>
          </a:xfrm>
          <a:prstGeom prst="roundRect">
            <a:avLst>
              <a:gd fmla="val 11111" name="adj"/>
            </a:avLst>
          </a:prstGeom>
          <a:solidFill>
            <a:srgbClr val="1A407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6"/>
          <p:cNvSpPr/>
          <p:nvPr/>
        </p:nvSpPr>
        <p:spPr>
          <a:xfrm>
            <a:off x="4663440" y="1554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6" name="Google Shape;446;p26"/>
          <p:cNvCxnSpPr/>
          <p:nvPr/>
        </p:nvCxnSpPr>
        <p:spPr>
          <a:xfrm>
            <a:off x="5943600" y="1965960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E8C87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47" name="Google Shape;447;p26"/>
          <p:cNvSpPr/>
          <p:nvPr/>
        </p:nvSpPr>
        <p:spPr>
          <a:xfrm>
            <a:off x="6172200" y="1554480"/>
            <a:ext cx="1280160" cy="822960"/>
          </a:xfrm>
          <a:prstGeom prst="roundRect">
            <a:avLst>
              <a:gd fmla="val 11111" name="adj"/>
            </a:avLst>
          </a:prstGeom>
          <a:solidFill>
            <a:srgbClr val="1A4070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6"/>
          <p:cNvSpPr/>
          <p:nvPr/>
        </p:nvSpPr>
        <p:spPr>
          <a:xfrm>
            <a:off x="6172200" y="1554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Gemini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1.5 Flash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9" name="Google Shape;449;p26"/>
          <p:cNvCxnSpPr/>
          <p:nvPr/>
        </p:nvCxnSpPr>
        <p:spPr>
          <a:xfrm>
            <a:off x="7452360" y="1965960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E8C87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50" name="Google Shape;450;p26"/>
          <p:cNvSpPr/>
          <p:nvPr/>
        </p:nvSpPr>
        <p:spPr>
          <a:xfrm>
            <a:off x="7635240" y="1554480"/>
            <a:ext cx="1280160" cy="822960"/>
          </a:xfrm>
          <a:prstGeom prst="roundRect">
            <a:avLst>
              <a:gd fmla="val 11111" name="adj"/>
            </a:avLst>
          </a:prstGeom>
          <a:solidFill>
            <a:srgbClr val="122368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6"/>
          <p:cNvSpPr/>
          <p:nvPr/>
        </p:nvSpPr>
        <p:spPr>
          <a:xfrm>
            <a:off x="7635240" y="1554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6"/>
          <p:cNvSpPr/>
          <p:nvPr/>
        </p:nvSpPr>
        <p:spPr>
          <a:xfrm>
            <a:off x="457200" y="2743200"/>
            <a:ext cx="1920240" cy="1188720"/>
          </a:xfrm>
          <a:prstGeom prst="roundRect">
            <a:avLst>
              <a:gd fmla="val 7692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6"/>
          <p:cNvSpPr/>
          <p:nvPr/>
        </p:nvSpPr>
        <p:spPr>
          <a:xfrm>
            <a:off x="548640" y="27889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548640" y="309067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HashingVectorizer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2048-dim, sub-linear TF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2651760" y="2743200"/>
            <a:ext cx="1920240" cy="1188720"/>
          </a:xfrm>
          <a:prstGeom prst="roundRect">
            <a:avLst>
              <a:gd fmla="val 7692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6"/>
          <p:cNvSpPr/>
          <p:nvPr/>
        </p:nvSpPr>
        <p:spPr>
          <a:xfrm>
            <a:off x="2743200" y="27889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Similarity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6"/>
          <p:cNvSpPr/>
          <p:nvPr/>
        </p:nvSpPr>
        <p:spPr>
          <a:xfrm>
            <a:off x="2743200" y="309067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Cosine similarity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threshold ≥ 0.3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/>
          <p:nvPr/>
        </p:nvSpPr>
        <p:spPr>
          <a:xfrm>
            <a:off x="4846320" y="2743200"/>
            <a:ext cx="1920240" cy="1188720"/>
          </a:xfrm>
          <a:prstGeom prst="roundRect">
            <a:avLst>
              <a:gd fmla="val 7692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6"/>
          <p:cNvSpPr/>
          <p:nvPr/>
        </p:nvSpPr>
        <p:spPr>
          <a:xfrm>
            <a:off x="4937760" y="27889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Prompt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6"/>
          <p:cNvSpPr/>
          <p:nvPr/>
        </p:nvSpPr>
        <p:spPr>
          <a:xfrm>
            <a:off x="4937760" y="309067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System: Answer from context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only; cite source if absent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6"/>
          <p:cNvSpPr/>
          <p:nvPr/>
        </p:nvSpPr>
        <p:spPr>
          <a:xfrm>
            <a:off x="7040880" y="2743200"/>
            <a:ext cx="1920240" cy="1188720"/>
          </a:xfrm>
          <a:prstGeom prst="roundRect">
            <a:avLst>
              <a:gd fmla="val 7692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6"/>
          <p:cNvSpPr/>
          <p:nvPr/>
        </p:nvSpPr>
        <p:spPr>
          <a:xfrm>
            <a:off x="7132320" y="27889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Attribution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6"/>
          <p:cNvSpPr/>
          <p:nvPr/>
        </p:nvSpPr>
        <p:spPr>
          <a:xfrm>
            <a:off x="7132320" y="309067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Page no. + chunk index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+ text excerpt returned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4" name="Google Shape;464;p26"/>
          <p:cNvCxnSpPr/>
          <p:nvPr/>
        </p:nvCxnSpPr>
        <p:spPr>
          <a:xfrm>
            <a:off x="4572000" y="2377440"/>
            <a:ext cx="0" cy="365760"/>
          </a:xfrm>
          <a:prstGeom prst="straightConnector1">
            <a:avLst/>
          </a:prstGeom>
          <a:noFill/>
          <a:ln cap="flat" cmpd="sng" w="12700">
            <a:solidFill>
              <a:srgbClr val="4A609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65" name="Google Shape;465;p26"/>
          <p:cNvSpPr/>
          <p:nvPr/>
        </p:nvSpPr>
        <p:spPr>
          <a:xfrm>
            <a:off x="457200" y="24231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090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5A7090"/>
                </a:solidFill>
                <a:latin typeface="Calibri"/>
                <a:ea typeface="Calibri"/>
                <a:cs typeface="Calibri"/>
                <a:sym typeface="Calibri"/>
              </a:rPr>
              <a:t>RAG Core Details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09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4A6090"/>
                </a:solidFill>
                <a:latin typeface="Calibri"/>
                <a:ea typeface="Calibri"/>
                <a:cs typeface="Calibri"/>
                <a:sym typeface="Calibri"/>
              </a:rPr>
              <a:t>12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7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7"/>
          <p:cNvSpPr/>
          <p:nvPr/>
        </p:nvSpPr>
        <p:spPr>
          <a:xfrm>
            <a:off x="365760" y="777240"/>
            <a:ext cx="1965960" cy="1755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7"/>
          <p:cNvSpPr/>
          <p:nvPr/>
        </p:nvSpPr>
        <p:spPr>
          <a:xfrm>
            <a:off x="1005840" y="914400"/>
            <a:ext cx="658368" cy="658368"/>
          </a:xfrm>
          <a:prstGeom prst="ellipse">
            <a:avLst/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6" name="Google Shape;47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416" y="950976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27"/>
          <p:cNvSpPr/>
          <p:nvPr/>
        </p:nvSpPr>
        <p:spPr>
          <a:xfrm>
            <a:off x="457200" y="167335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User Auth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7"/>
          <p:cNvSpPr/>
          <p:nvPr/>
        </p:nvSpPr>
        <p:spPr>
          <a:xfrm>
            <a:off x="457200" y="196596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Register, Login, JWT-protected sessions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7"/>
          <p:cNvSpPr/>
          <p:nvPr/>
        </p:nvSpPr>
        <p:spPr>
          <a:xfrm>
            <a:off x="2514600" y="777240"/>
            <a:ext cx="1965960" cy="1755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7"/>
          <p:cNvSpPr/>
          <p:nvPr/>
        </p:nvSpPr>
        <p:spPr>
          <a:xfrm>
            <a:off x="3154680" y="914400"/>
            <a:ext cx="658368" cy="658368"/>
          </a:xfrm>
          <a:prstGeom prst="ellipse">
            <a:avLst/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1" name="Google Shape;48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1256" y="950976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7"/>
          <p:cNvSpPr/>
          <p:nvPr/>
        </p:nvSpPr>
        <p:spPr>
          <a:xfrm>
            <a:off x="2606040" y="167335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PDF Upload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7"/>
          <p:cNvSpPr/>
          <p:nvPr/>
        </p:nvSpPr>
        <p:spPr>
          <a:xfrm>
            <a:off x="2606040" y="196596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Drag-drop upload with real-time processing pipeline feedback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4663440" y="777240"/>
            <a:ext cx="1965960" cy="1755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5303520" y="914400"/>
            <a:ext cx="658368" cy="658368"/>
          </a:xfrm>
          <a:prstGeom prst="ellipse">
            <a:avLst/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6" name="Google Shape;48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0096" y="950976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7"/>
          <p:cNvSpPr/>
          <p:nvPr/>
        </p:nvSpPr>
        <p:spPr>
          <a:xfrm>
            <a:off x="4754880" y="167335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Doc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4754880" y="196596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List, view and delete documents with metadata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6812280" y="777240"/>
            <a:ext cx="1965960" cy="1755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7"/>
          <p:cNvSpPr/>
          <p:nvPr/>
        </p:nvSpPr>
        <p:spPr>
          <a:xfrm>
            <a:off x="7452360" y="914400"/>
            <a:ext cx="658368" cy="658368"/>
          </a:xfrm>
          <a:prstGeom prst="ellipse">
            <a:avLst/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1" name="Google Shape;49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88936" y="950976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7"/>
          <p:cNvSpPr/>
          <p:nvPr/>
        </p:nvSpPr>
        <p:spPr>
          <a:xfrm>
            <a:off x="6903720" y="167335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AI Q&amp;A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6903720" y="196596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Natural language questions answered with Gemini 1.5 Flash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7"/>
          <p:cNvSpPr/>
          <p:nvPr/>
        </p:nvSpPr>
        <p:spPr>
          <a:xfrm>
            <a:off x="365760" y="2743200"/>
            <a:ext cx="1965960" cy="1755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7"/>
          <p:cNvSpPr/>
          <p:nvPr/>
        </p:nvSpPr>
        <p:spPr>
          <a:xfrm>
            <a:off x="1005840" y="2880360"/>
            <a:ext cx="658368" cy="658368"/>
          </a:xfrm>
          <a:prstGeom prst="ellipse">
            <a:avLst/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6" name="Google Shape;496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2416" y="2916936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7"/>
          <p:cNvSpPr/>
          <p:nvPr/>
        </p:nvSpPr>
        <p:spPr>
          <a:xfrm>
            <a:off x="457200" y="363931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Source Attribution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457200" y="39319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Each answer shows source page + chunk excerpt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2514600" y="2743200"/>
            <a:ext cx="1965960" cy="1755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3154680" y="2880360"/>
            <a:ext cx="658368" cy="658368"/>
          </a:xfrm>
          <a:prstGeom prst="ellipse">
            <a:avLst/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1" name="Google Shape;501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91256" y="2916936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27"/>
          <p:cNvSpPr/>
          <p:nvPr/>
        </p:nvSpPr>
        <p:spPr>
          <a:xfrm>
            <a:off x="2606040" y="363931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Swagger API Docs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7"/>
          <p:cNvSpPr/>
          <p:nvPr/>
        </p:nvSpPr>
        <p:spPr>
          <a:xfrm>
            <a:off x="2606040" y="39319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Auto-generated interactive REST API docs at /docs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7"/>
          <p:cNvSpPr/>
          <p:nvPr/>
        </p:nvSpPr>
        <p:spPr>
          <a:xfrm>
            <a:off x="4663440" y="2743200"/>
            <a:ext cx="1965960" cy="1755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7"/>
          <p:cNvSpPr/>
          <p:nvPr/>
        </p:nvSpPr>
        <p:spPr>
          <a:xfrm>
            <a:off x="5303520" y="2880360"/>
            <a:ext cx="658368" cy="658368"/>
          </a:xfrm>
          <a:prstGeom prst="ellipse">
            <a:avLst/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6" name="Google Shape;506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40096" y="2916936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7"/>
          <p:cNvSpPr/>
          <p:nvPr/>
        </p:nvSpPr>
        <p:spPr>
          <a:xfrm>
            <a:off x="4754880" y="363931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Cloud Deployed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7"/>
          <p:cNvSpPr/>
          <p:nvPr/>
        </p:nvSpPr>
        <p:spPr>
          <a:xfrm>
            <a:off x="4754880" y="39319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Live on Vercel + Render, zero operational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7"/>
          <p:cNvSpPr/>
          <p:nvPr/>
        </p:nvSpPr>
        <p:spPr>
          <a:xfrm>
            <a:off x="6812280" y="2743200"/>
            <a:ext cx="1965960" cy="17556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9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7"/>
          <p:cNvSpPr/>
          <p:nvPr/>
        </p:nvSpPr>
        <p:spPr>
          <a:xfrm>
            <a:off x="7452360" y="2880360"/>
            <a:ext cx="658368" cy="658368"/>
          </a:xfrm>
          <a:prstGeom prst="ellipse">
            <a:avLst/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1" name="Google Shape;511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88936" y="2916936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7"/>
          <p:cNvSpPr/>
          <p:nvPr/>
        </p:nvSpPr>
        <p:spPr>
          <a:xfrm>
            <a:off x="6903720" y="3639312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Secure by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6903720" y="3931920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A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3A4A6A"/>
                </a:solidFill>
                <a:latin typeface="Calibri"/>
                <a:ea typeface="Calibri"/>
                <a:cs typeface="Calibri"/>
                <a:sym typeface="Calibri"/>
              </a:rPr>
              <a:t>HTTPS, JWT, bcrypt, CORS, encrypted secrets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13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4B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8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Application Screenshots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Live Production Deployment — lex-counsel-ai-kecs.vercel.app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365760" y="1143000"/>
            <a:ext cx="3931920" cy="1691640"/>
          </a:xfrm>
          <a:prstGeom prst="roundRect">
            <a:avLst>
              <a:gd fmla="val 6486" name="adj"/>
            </a:avLst>
          </a:prstGeom>
          <a:solidFill>
            <a:srgbClr val="122368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8"/>
          <p:cNvSpPr/>
          <p:nvPr/>
        </p:nvSpPr>
        <p:spPr>
          <a:xfrm>
            <a:off x="502920" y="1280160"/>
            <a:ext cx="3566160" cy="1051560"/>
          </a:xfrm>
          <a:prstGeom prst="rect">
            <a:avLst/>
          </a:prstGeom>
          <a:solidFill>
            <a:srgbClr val="0A1835"/>
          </a:solidFill>
          <a:ln cap="flat" cmpd="sng" w="12700">
            <a:solidFill>
              <a:srgbClr val="2A4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8"/>
          <p:cNvSpPr/>
          <p:nvPr/>
        </p:nvSpPr>
        <p:spPr>
          <a:xfrm>
            <a:off x="502920" y="1280160"/>
            <a:ext cx="3566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6090"/>
              </a:buClr>
              <a:buSzPts val="1000"/>
              <a:buFont typeface="Calibri"/>
              <a:buNone/>
            </a:pPr>
            <a:r>
              <a:rPr b="0" i="1" lang="en-GB" sz="1000" u="none" cap="none" strike="noStrike">
                <a:solidFill>
                  <a:srgbClr val="3A6090"/>
                </a:solidFill>
                <a:latin typeface="Calibri"/>
                <a:ea typeface="Calibri"/>
                <a:cs typeface="Calibri"/>
                <a:sym typeface="Calibri"/>
              </a:rPr>
              <a:t>[ Screenshot: Login Page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457200" y="240487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Login Page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8"/>
          <p:cNvSpPr/>
          <p:nvPr/>
        </p:nvSpPr>
        <p:spPr>
          <a:xfrm>
            <a:off x="457200" y="260604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Clean authentication UI with legal background imagery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8"/>
          <p:cNvSpPr/>
          <p:nvPr/>
        </p:nvSpPr>
        <p:spPr>
          <a:xfrm>
            <a:off x="4663440" y="1143000"/>
            <a:ext cx="3931920" cy="1691640"/>
          </a:xfrm>
          <a:prstGeom prst="roundRect">
            <a:avLst>
              <a:gd fmla="val 6486" name="adj"/>
            </a:avLst>
          </a:prstGeom>
          <a:solidFill>
            <a:srgbClr val="122368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8"/>
          <p:cNvSpPr/>
          <p:nvPr/>
        </p:nvSpPr>
        <p:spPr>
          <a:xfrm>
            <a:off x="4800600" y="1280160"/>
            <a:ext cx="3566160" cy="1051560"/>
          </a:xfrm>
          <a:prstGeom prst="rect">
            <a:avLst/>
          </a:prstGeom>
          <a:solidFill>
            <a:srgbClr val="0A1835"/>
          </a:solidFill>
          <a:ln cap="flat" cmpd="sng" w="12700">
            <a:solidFill>
              <a:srgbClr val="2A4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8"/>
          <p:cNvSpPr/>
          <p:nvPr/>
        </p:nvSpPr>
        <p:spPr>
          <a:xfrm>
            <a:off x="4800600" y="1280160"/>
            <a:ext cx="3566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609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4754880" y="240487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8"/>
          <p:cNvSpPr/>
          <p:nvPr/>
        </p:nvSpPr>
        <p:spPr>
          <a:xfrm>
            <a:off x="4754880" y="260604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Document list with Upload PDF button and chat interface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8"/>
          <p:cNvSpPr/>
          <p:nvPr/>
        </p:nvSpPr>
        <p:spPr>
          <a:xfrm>
            <a:off x="365760" y="3063240"/>
            <a:ext cx="3931920" cy="1691640"/>
          </a:xfrm>
          <a:prstGeom prst="roundRect">
            <a:avLst>
              <a:gd fmla="val 6486" name="adj"/>
            </a:avLst>
          </a:prstGeom>
          <a:solidFill>
            <a:srgbClr val="122368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8"/>
          <p:cNvSpPr/>
          <p:nvPr/>
        </p:nvSpPr>
        <p:spPr>
          <a:xfrm>
            <a:off x="502920" y="3200400"/>
            <a:ext cx="3566160" cy="1051560"/>
          </a:xfrm>
          <a:prstGeom prst="rect">
            <a:avLst/>
          </a:prstGeom>
          <a:solidFill>
            <a:srgbClr val="0A1835"/>
          </a:solidFill>
          <a:ln cap="flat" cmpd="sng" w="12700">
            <a:solidFill>
              <a:srgbClr val="2A4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8"/>
          <p:cNvSpPr/>
          <p:nvPr/>
        </p:nvSpPr>
        <p:spPr>
          <a:xfrm>
            <a:off x="502920" y="3200400"/>
            <a:ext cx="3566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609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457200" y="432511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Upload Interface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8"/>
          <p:cNvSpPr/>
          <p:nvPr/>
        </p:nvSpPr>
        <p:spPr>
          <a:xfrm>
            <a:off x="457200" y="452628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Drag-drop zone with real-time processing progress indicator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8"/>
          <p:cNvSpPr/>
          <p:nvPr/>
        </p:nvSpPr>
        <p:spPr>
          <a:xfrm>
            <a:off x="4663440" y="3063240"/>
            <a:ext cx="3931920" cy="1691640"/>
          </a:xfrm>
          <a:prstGeom prst="roundRect">
            <a:avLst>
              <a:gd fmla="val 6486" name="adj"/>
            </a:avLst>
          </a:prstGeom>
          <a:solidFill>
            <a:srgbClr val="122368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8"/>
          <p:cNvSpPr/>
          <p:nvPr/>
        </p:nvSpPr>
        <p:spPr>
          <a:xfrm>
            <a:off x="4800600" y="3200400"/>
            <a:ext cx="3566160" cy="1051560"/>
          </a:xfrm>
          <a:prstGeom prst="rect">
            <a:avLst/>
          </a:prstGeom>
          <a:solidFill>
            <a:srgbClr val="0A1835"/>
          </a:solidFill>
          <a:ln cap="flat" cmpd="sng" w="12700">
            <a:solidFill>
              <a:srgbClr val="2A4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8"/>
          <p:cNvSpPr/>
          <p:nvPr/>
        </p:nvSpPr>
        <p:spPr>
          <a:xfrm>
            <a:off x="4800625" y="3154713"/>
            <a:ext cx="3566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609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8"/>
          <p:cNvSpPr/>
          <p:nvPr/>
        </p:nvSpPr>
        <p:spPr>
          <a:xfrm>
            <a:off x="4754880" y="432511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Q&amp;A Interface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8"/>
          <p:cNvSpPr/>
          <p:nvPr/>
        </p:nvSpPr>
        <p:spPr>
          <a:xfrm>
            <a:off x="4754880" y="4526280"/>
            <a:ext cx="3749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Chat-style answers with inline source attribution panel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8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09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4A6090"/>
                </a:solidFill>
                <a:latin typeface="Calibri"/>
                <a:ea typeface="Calibri"/>
                <a:cs typeface="Calibri"/>
                <a:sym typeface="Calibri"/>
              </a:rPr>
              <a:t>14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3" name="Google Shape;543;p28" title="lo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750" y="1280150"/>
            <a:ext cx="3499327" cy="105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28" title="dashboar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0601" y="1258800"/>
            <a:ext cx="3566152" cy="115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28" title="uplo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925" y="3200400"/>
            <a:ext cx="3566099" cy="1051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28" title="ask-ques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4012" y="3250688"/>
            <a:ext cx="3499325" cy="1051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9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Testing &amp; Validation — 22 Test Cases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9"/>
          <p:cNvSpPr/>
          <p:nvPr/>
        </p:nvSpPr>
        <p:spPr>
          <a:xfrm>
            <a:off x="548640" y="822960"/>
            <a:ext cx="2286000" cy="1097280"/>
          </a:xfrm>
          <a:prstGeom prst="roundRect">
            <a:avLst>
              <a:gd fmla="val 10000" name="adj"/>
            </a:avLst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9"/>
          <p:cNvSpPr/>
          <p:nvPr/>
        </p:nvSpPr>
        <p:spPr>
          <a:xfrm>
            <a:off x="548640" y="841248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GB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9"/>
          <p:cNvSpPr/>
          <p:nvPr/>
        </p:nvSpPr>
        <p:spPr>
          <a:xfrm>
            <a:off x="548640" y="148132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Test Cases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9"/>
          <p:cNvSpPr/>
          <p:nvPr/>
        </p:nvSpPr>
        <p:spPr>
          <a:xfrm>
            <a:off x="3291840" y="822960"/>
            <a:ext cx="2286000" cy="1097280"/>
          </a:xfrm>
          <a:prstGeom prst="roundRect">
            <a:avLst>
              <a:gd fmla="val 10000" name="adj"/>
            </a:avLst>
          </a:prstGeom>
          <a:solidFill>
            <a:srgbClr val="2A7A2A"/>
          </a:solidFill>
          <a:ln cap="flat" cmpd="sng" w="12700">
            <a:solidFill>
              <a:srgbClr val="2A7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9"/>
          <p:cNvSpPr/>
          <p:nvPr/>
        </p:nvSpPr>
        <p:spPr>
          <a:xfrm>
            <a:off x="3291840" y="841248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E90"/>
              </a:buClr>
              <a:buSzPts val="4000"/>
              <a:buFont typeface="Calibri"/>
              <a:buNone/>
            </a:pPr>
            <a:r>
              <a:rPr b="1" i="0" lang="en-GB" sz="4000" u="none" cap="none" strike="noStrike">
                <a:solidFill>
                  <a:srgbClr val="90EE9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9"/>
          <p:cNvSpPr/>
          <p:nvPr/>
        </p:nvSpPr>
        <p:spPr>
          <a:xfrm>
            <a:off x="3291840" y="148132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 Passed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9"/>
          <p:cNvSpPr/>
          <p:nvPr/>
        </p:nvSpPr>
        <p:spPr>
          <a:xfrm>
            <a:off x="6035040" y="822960"/>
            <a:ext cx="2286000" cy="1097280"/>
          </a:xfrm>
          <a:prstGeom prst="roundRect">
            <a:avLst>
              <a:gd fmla="val 10000" name="adj"/>
            </a:avLst>
          </a:prstGeom>
          <a:solidFill>
            <a:srgbClr val="E0E0E0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9"/>
          <p:cNvSpPr/>
          <p:nvPr/>
        </p:nvSpPr>
        <p:spPr>
          <a:xfrm>
            <a:off x="6035040" y="841248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4000"/>
              <a:buFont typeface="Calibri"/>
              <a:buNone/>
            </a:pPr>
            <a:r>
              <a:rPr b="1" i="0" lang="en-GB" sz="40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9"/>
          <p:cNvSpPr/>
          <p:nvPr/>
        </p:nvSpPr>
        <p:spPr>
          <a:xfrm>
            <a:off x="6035040" y="148132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Tests Failed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9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600"/>
              <a:buFont typeface="Calibri"/>
              <a:buNone/>
            </a:pPr>
            <a:r>
              <a:rPr b="1" i="1" lang="en-GB" sz="16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100% Pass Rate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9"/>
          <p:cNvSpPr/>
          <p:nvPr/>
        </p:nvSpPr>
        <p:spPr>
          <a:xfrm>
            <a:off x="365760" y="2560320"/>
            <a:ext cx="4572000" cy="384048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9"/>
          <p:cNvSpPr/>
          <p:nvPr/>
        </p:nvSpPr>
        <p:spPr>
          <a:xfrm>
            <a:off x="365760" y="2560320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Category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9"/>
          <p:cNvSpPr/>
          <p:nvPr/>
        </p:nvSpPr>
        <p:spPr>
          <a:xfrm>
            <a:off x="5029200" y="2560320"/>
            <a:ext cx="1463040" cy="384048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9"/>
          <p:cNvSpPr/>
          <p:nvPr/>
        </p:nvSpPr>
        <p:spPr>
          <a:xfrm>
            <a:off x="5029200" y="25603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9"/>
          <p:cNvSpPr/>
          <p:nvPr/>
        </p:nvSpPr>
        <p:spPr>
          <a:xfrm>
            <a:off x="6583680" y="2560320"/>
            <a:ext cx="1371600" cy="384048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9"/>
          <p:cNvSpPr/>
          <p:nvPr/>
        </p:nvSpPr>
        <p:spPr>
          <a:xfrm>
            <a:off x="6583680" y="256032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9"/>
          <p:cNvSpPr/>
          <p:nvPr/>
        </p:nvSpPr>
        <p:spPr>
          <a:xfrm>
            <a:off x="7772400" y="2560320"/>
            <a:ext cx="1280160" cy="384048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9"/>
          <p:cNvSpPr/>
          <p:nvPr/>
        </p:nvSpPr>
        <p:spPr>
          <a:xfrm>
            <a:off x="7772400" y="256032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9"/>
          <p:cNvSpPr/>
          <p:nvPr/>
        </p:nvSpPr>
        <p:spPr>
          <a:xfrm>
            <a:off x="365760" y="2944368"/>
            <a:ext cx="4572000" cy="36576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9"/>
          <p:cNvSpPr/>
          <p:nvPr/>
        </p:nvSpPr>
        <p:spPr>
          <a:xfrm>
            <a:off x="365760" y="294436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9"/>
          <p:cNvSpPr/>
          <p:nvPr/>
        </p:nvSpPr>
        <p:spPr>
          <a:xfrm>
            <a:off x="5029200" y="2944368"/>
            <a:ext cx="1463040" cy="36576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9"/>
          <p:cNvSpPr/>
          <p:nvPr/>
        </p:nvSpPr>
        <p:spPr>
          <a:xfrm>
            <a:off x="5029200" y="294436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9"/>
          <p:cNvSpPr/>
          <p:nvPr/>
        </p:nvSpPr>
        <p:spPr>
          <a:xfrm>
            <a:off x="6583680" y="2944368"/>
            <a:ext cx="1371600" cy="36576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9"/>
          <p:cNvSpPr/>
          <p:nvPr/>
        </p:nvSpPr>
        <p:spPr>
          <a:xfrm>
            <a:off x="6583680" y="29443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9"/>
          <p:cNvSpPr/>
          <p:nvPr/>
        </p:nvSpPr>
        <p:spPr>
          <a:xfrm>
            <a:off x="7772400" y="2944368"/>
            <a:ext cx="1280160" cy="36576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9"/>
          <p:cNvSpPr/>
          <p:nvPr/>
        </p:nvSpPr>
        <p:spPr>
          <a:xfrm>
            <a:off x="7772400" y="294436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A1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A6A1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9"/>
          <p:cNvSpPr/>
          <p:nvPr/>
        </p:nvSpPr>
        <p:spPr>
          <a:xfrm>
            <a:off x="365760" y="3310128"/>
            <a:ext cx="4572000" cy="365760"/>
          </a:xfrm>
          <a:prstGeom prst="rect">
            <a:avLst/>
          </a:prstGeom>
          <a:solidFill>
            <a:srgbClr val="D8E2F0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9"/>
          <p:cNvSpPr/>
          <p:nvPr/>
        </p:nvSpPr>
        <p:spPr>
          <a:xfrm>
            <a:off x="365760" y="33101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Document Upload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9"/>
          <p:cNvSpPr/>
          <p:nvPr/>
        </p:nvSpPr>
        <p:spPr>
          <a:xfrm>
            <a:off x="5029200" y="3310128"/>
            <a:ext cx="1463040" cy="365760"/>
          </a:xfrm>
          <a:prstGeom prst="rect">
            <a:avLst/>
          </a:prstGeom>
          <a:solidFill>
            <a:srgbClr val="D8E2F0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9"/>
          <p:cNvSpPr/>
          <p:nvPr/>
        </p:nvSpPr>
        <p:spPr>
          <a:xfrm>
            <a:off x="5029200" y="331012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9"/>
          <p:cNvSpPr/>
          <p:nvPr/>
        </p:nvSpPr>
        <p:spPr>
          <a:xfrm>
            <a:off x="6583680" y="3310128"/>
            <a:ext cx="1371600" cy="365760"/>
          </a:xfrm>
          <a:prstGeom prst="rect">
            <a:avLst/>
          </a:prstGeom>
          <a:solidFill>
            <a:srgbClr val="D8E2F0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9"/>
          <p:cNvSpPr/>
          <p:nvPr/>
        </p:nvSpPr>
        <p:spPr>
          <a:xfrm>
            <a:off x="6583680" y="331012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9"/>
          <p:cNvSpPr/>
          <p:nvPr/>
        </p:nvSpPr>
        <p:spPr>
          <a:xfrm>
            <a:off x="7772400" y="3310128"/>
            <a:ext cx="1280160" cy="365760"/>
          </a:xfrm>
          <a:prstGeom prst="rect">
            <a:avLst/>
          </a:prstGeom>
          <a:solidFill>
            <a:srgbClr val="D8E2F0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9"/>
          <p:cNvSpPr/>
          <p:nvPr/>
        </p:nvSpPr>
        <p:spPr>
          <a:xfrm>
            <a:off x="7772400" y="331012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A1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A6A1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9"/>
          <p:cNvSpPr/>
          <p:nvPr/>
        </p:nvSpPr>
        <p:spPr>
          <a:xfrm>
            <a:off x="365760" y="3675888"/>
            <a:ext cx="4572000" cy="36576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9"/>
          <p:cNvSpPr/>
          <p:nvPr/>
        </p:nvSpPr>
        <p:spPr>
          <a:xfrm>
            <a:off x="365760" y="367588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Q&amp;A Retrieval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9"/>
          <p:cNvSpPr/>
          <p:nvPr/>
        </p:nvSpPr>
        <p:spPr>
          <a:xfrm>
            <a:off x="5029200" y="3675888"/>
            <a:ext cx="1463040" cy="36576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9"/>
          <p:cNvSpPr/>
          <p:nvPr/>
        </p:nvSpPr>
        <p:spPr>
          <a:xfrm>
            <a:off x="5029200" y="367588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9"/>
          <p:cNvSpPr/>
          <p:nvPr/>
        </p:nvSpPr>
        <p:spPr>
          <a:xfrm>
            <a:off x="6583680" y="3675888"/>
            <a:ext cx="1371600" cy="36576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9"/>
          <p:cNvSpPr/>
          <p:nvPr/>
        </p:nvSpPr>
        <p:spPr>
          <a:xfrm>
            <a:off x="6583680" y="367588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9"/>
          <p:cNvSpPr/>
          <p:nvPr/>
        </p:nvSpPr>
        <p:spPr>
          <a:xfrm>
            <a:off x="7772400" y="3675888"/>
            <a:ext cx="1280160" cy="36576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9"/>
          <p:cNvSpPr/>
          <p:nvPr/>
        </p:nvSpPr>
        <p:spPr>
          <a:xfrm>
            <a:off x="7772400" y="367588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A1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A6A1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9"/>
          <p:cNvSpPr/>
          <p:nvPr/>
        </p:nvSpPr>
        <p:spPr>
          <a:xfrm>
            <a:off x="365760" y="4041648"/>
            <a:ext cx="4572000" cy="365760"/>
          </a:xfrm>
          <a:prstGeom prst="rect">
            <a:avLst/>
          </a:prstGeom>
          <a:solidFill>
            <a:srgbClr val="D8E2F0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9"/>
          <p:cNvSpPr/>
          <p:nvPr/>
        </p:nvSpPr>
        <p:spPr>
          <a:xfrm>
            <a:off x="365760" y="404164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Security / Edge Cases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9"/>
          <p:cNvSpPr/>
          <p:nvPr/>
        </p:nvSpPr>
        <p:spPr>
          <a:xfrm>
            <a:off x="5029200" y="4041648"/>
            <a:ext cx="1463040" cy="365760"/>
          </a:xfrm>
          <a:prstGeom prst="rect">
            <a:avLst/>
          </a:prstGeom>
          <a:solidFill>
            <a:srgbClr val="D8E2F0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9"/>
          <p:cNvSpPr/>
          <p:nvPr/>
        </p:nvSpPr>
        <p:spPr>
          <a:xfrm>
            <a:off x="5029200" y="404164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9"/>
          <p:cNvSpPr/>
          <p:nvPr/>
        </p:nvSpPr>
        <p:spPr>
          <a:xfrm>
            <a:off x="6583680" y="4041648"/>
            <a:ext cx="1371600" cy="365760"/>
          </a:xfrm>
          <a:prstGeom prst="rect">
            <a:avLst/>
          </a:prstGeom>
          <a:solidFill>
            <a:srgbClr val="D8E2F0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9"/>
          <p:cNvSpPr/>
          <p:nvPr/>
        </p:nvSpPr>
        <p:spPr>
          <a:xfrm>
            <a:off x="6583680" y="404164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9"/>
          <p:cNvSpPr/>
          <p:nvPr/>
        </p:nvSpPr>
        <p:spPr>
          <a:xfrm>
            <a:off x="7772400" y="4041648"/>
            <a:ext cx="1280160" cy="365760"/>
          </a:xfrm>
          <a:prstGeom prst="rect">
            <a:avLst/>
          </a:prstGeom>
          <a:solidFill>
            <a:srgbClr val="D8E2F0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9"/>
          <p:cNvSpPr/>
          <p:nvPr/>
        </p:nvSpPr>
        <p:spPr>
          <a:xfrm>
            <a:off x="7772400" y="404164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A1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A6A1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9"/>
          <p:cNvSpPr/>
          <p:nvPr/>
        </p:nvSpPr>
        <p:spPr>
          <a:xfrm>
            <a:off x="365760" y="4407408"/>
            <a:ext cx="4572000" cy="36576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9"/>
          <p:cNvSpPr/>
          <p:nvPr/>
        </p:nvSpPr>
        <p:spPr>
          <a:xfrm>
            <a:off x="365760" y="440740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Integration /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9"/>
          <p:cNvSpPr/>
          <p:nvPr/>
        </p:nvSpPr>
        <p:spPr>
          <a:xfrm>
            <a:off x="5029200" y="4407408"/>
            <a:ext cx="1463040" cy="36576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9"/>
          <p:cNvSpPr/>
          <p:nvPr/>
        </p:nvSpPr>
        <p:spPr>
          <a:xfrm>
            <a:off x="5029200" y="440740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9"/>
          <p:cNvSpPr/>
          <p:nvPr/>
        </p:nvSpPr>
        <p:spPr>
          <a:xfrm>
            <a:off x="6583680" y="4407408"/>
            <a:ext cx="1371600" cy="36576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9"/>
          <p:cNvSpPr/>
          <p:nvPr/>
        </p:nvSpPr>
        <p:spPr>
          <a:xfrm>
            <a:off x="6583680" y="440740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9"/>
          <p:cNvSpPr/>
          <p:nvPr/>
        </p:nvSpPr>
        <p:spPr>
          <a:xfrm>
            <a:off x="7772400" y="4407408"/>
            <a:ext cx="1280160" cy="365760"/>
          </a:xfrm>
          <a:prstGeom prst="rect">
            <a:avLst/>
          </a:prstGeom>
          <a:solidFill>
            <a:srgbClr val="E8EEF8"/>
          </a:solidFill>
          <a:ln cap="flat" cmpd="sng" w="12700">
            <a:solidFill>
              <a:srgbClr val="C0C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9"/>
          <p:cNvSpPr/>
          <p:nvPr/>
        </p:nvSpPr>
        <p:spPr>
          <a:xfrm>
            <a:off x="7772400" y="440740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6A1A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A6A1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9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15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4B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0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Performance Metrics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0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Measured on live production deployment against real legal documents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0" name="Google Shape;620;p30"/>
          <p:cNvGraphicFramePr/>
          <p:nvPr/>
        </p:nvGraphicFramePr>
        <p:xfrm>
          <a:off x="504200" y="13001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{0CAB39C5-F988-4711-B0FF-4F6FC30F69C6}</a:tableStyleId>
              </a:tblPr>
              <a:tblGrid>
                <a:gridCol w="1978125"/>
                <a:gridCol w="1978125"/>
                <a:gridCol w="1978125"/>
                <a:gridCol w="1978125"/>
              </a:tblGrid>
              <a:tr h="30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4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B1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 Size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4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B1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Ingestion 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4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B1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Response 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1F4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B1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Retrieval Accuracy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A84C"/>
                    </a:solidFill>
                  </a:tcPr>
                </a:tc>
              </a:tr>
              <a:tr h="307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pages (Rental Agreement)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4.2 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 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080"/>
                    </a:solidFill>
                  </a:tcPr>
                </a:tc>
              </a:tr>
              <a:tr h="432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 pages (Employment Contract)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3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9.1 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3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2.4 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3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368"/>
                    </a:solidFill>
                  </a:tcPr>
                </a:tc>
              </a:tr>
              <a:tr h="432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pages (Shareholder Agreement)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18.7 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 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C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080"/>
                    </a:solidFill>
                  </a:tcPr>
                </a:tc>
              </a:tr>
            </a:tbl>
          </a:graphicData>
        </a:graphic>
      </p:graphicFrame>
      <p:pic>
        <p:nvPicPr>
          <p:cNvPr id="621" name="Google Shape;62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50" y="2971800"/>
            <a:ext cx="50292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30"/>
          <p:cNvSpPr/>
          <p:nvPr/>
        </p:nvSpPr>
        <p:spPr>
          <a:xfrm>
            <a:off x="5669275" y="2971800"/>
            <a:ext cx="3291900" cy="1828800"/>
          </a:xfrm>
          <a:prstGeom prst="roundRect">
            <a:avLst>
              <a:gd fmla="val 5714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0"/>
          <p:cNvSpPr/>
          <p:nvPr/>
        </p:nvSpPr>
        <p:spPr>
          <a:xfrm>
            <a:off x="5669280" y="297180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Avg.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0"/>
          <p:cNvSpPr/>
          <p:nvPr/>
        </p:nvSpPr>
        <p:spPr>
          <a:xfrm>
            <a:off x="5669280" y="342900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5200"/>
              <a:buFont typeface="Calibri"/>
              <a:buNone/>
            </a:pPr>
            <a:r>
              <a:rPr b="1" i="0" lang="en-GB" sz="5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91%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0"/>
          <p:cNvSpPr/>
          <p:nvPr/>
        </p:nvSpPr>
        <p:spPr>
          <a:xfrm>
            <a:off x="5669280" y="431596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across all document sizes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0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09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4A6090"/>
                </a:solidFill>
                <a:latin typeface="Calibri"/>
                <a:ea typeface="Calibri"/>
                <a:cs typeface="Calibri"/>
                <a:sym typeface="Calibri"/>
              </a:rPr>
              <a:t>16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Deployment Architecture — Production Environment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1"/>
          <p:cNvSpPr/>
          <p:nvPr/>
        </p:nvSpPr>
        <p:spPr>
          <a:xfrm>
            <a:off x="365760" y="777240"/>
            <a:ext cx="2743200" cy="4114800"/>
          </a:xfrm>
          <a:prstGeom prst="roundRect">
            <a:avLst>
              <a:gd fmla="val 5000" name="adj"/>
            </a:avLst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5" name="Google Shape;63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144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31"/>
          <p:cNvSpPr/>
          <p:nvPr/>
        </p:nvSpPr>
        <p:spPr>
          <a:xfrm>
            <a:off x="457200" y="1719072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Frontend — Vercel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1"/>
          <p:cNvSpPr/>
          <p:nvPr/>
        </p:nvSpPr>
        <p:spPr>
          <a:xfrm>
            <a:off x="502920" y="221284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Platform: Vercel Hobby (Free)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1"/>
          <p:cNvSpPr/>
          <p:nvPr/>
        </p:nvSpPr>
        <p:spPr>
          <a:xfrm>
            <a:off x="502920" y="271576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URL: lex-counsel-ai-kecs.vercel.app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1"/>
          <p:cNvSpPr/>
          <p:nvPr/>
        </p:nvSpPr>
        <p:spPr>
          <a:xfrm>
            <a:off x="502920" y="321868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CI/CD: GitHub auto-deploy on push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1"/>
          <p:cNvSpPr/>
          <p:nvPr/>
        </p:nvSpPr>
        <p:spPr>
          <a:xfrm>
            <a:off x="502920" y="372160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CDN: Vercel Global Edge (100+ PoPs)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1"/>
          <p:cNvSpPr/>
          <p:nvPr/>
        </p:nvSpPr>
        <p:spPr>
          <a:xfrm>
            <a:off x="502920" y="422452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TLS: Automatic HTTPS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1"/>
          <p:cNvSpPr/>
          <p:nvPr/>
        </p:nvSpPr>
        <p:spPr>
          <a:xfrm>
            <a:off x="3200400" y="777240"/>
            <a:ext cx="2743200" cy="4114800"/>
          </a:xfrm>
          <a:prstGeom prst="roundRect">
            <a:avLst>
              <a:gd fmla="val 5000" name="adj"/>
            </a:avLst>
          </a:prstGeom>
          <a:solidFill>
            <a:srgbClr val="1A3080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3" name="Google Shape;64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0" y="9144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31"/>
          <p:cNvSpPr/>
          <p:nvPr/>
        </p:nvSpPr>
        <p:spPr>
          <a:xfrm>
            <a:off x="3291840" y="1719072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Backend — Render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1"/>
          <p:cNvSpPr/>
          <p:nvPr/>
        </p:nvSpPr>
        <p:spPr>
          <a:xfrm>
            <a:off x="3337560" y="221284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Platform: Render Free Tier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1"/>
          <p:cNvSpPr/>
          <p:nvPr/>
        </p:nvSpPr>
        <p:spPr>
          <a:xfrm>
            <a:off x="3337560" y="271576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URL: lexcounselai.onrender.com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1"/>
          <p:cNvSpPr/>
          <p:nvPr/>
        </p:nvSpPr>
        <p:spPr>
          <a:xfrm>
            <a:off x="3337560" y="321868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Runtime: Python 3.11 + Uvicorn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1"/>
          <p:cNvSpPr/>
          <p:nvPr/>
        </p:nvSpPr>
        <p:spPr>
          <a:xfrm>
            <a:off x="3337560" y="372160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Storage: Persistent Volume (ChromaDB)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1"/>
          <p:cNvSpPr/>
          <p:nvPr/>
        </p:nvSpPr>
        <p:spPr>
          <a:xfrm>
            <a:off x="3337560" y="422452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TLS: Automatic HTTPS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1"/>
          <p:cNvSpPr/>
          <p:nvPr/>
        </p:nvSpPr>
        <p:spPr>
          <a:xfrm>
            <a:off x="6035040" y="777240"/>
            <a:ext cx="2743200" cy="4114800"/>
          </a:xfrm>
          <a:prstGeom prst="roundRect">
            <a:avLst>
              <a:gd fmla="val 5000" name="adj"/>
            </a:avLst>
          </a:prstGeom>
          <a:solidFill>
            <a:srgbClr val="1A4070"/>
          </a:solidFill>
          <a:ln cap="flat" cmpd="sng" w="12700">
            <a:solidFill>
              <a:srgbClr val="1A4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1" name="Google Shape;65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0880" y="9144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1"/>
          <p:cNvSpPr/>
          <p:nvPr/>
        </p:nvSpPr>
        <p:spPr>
          <a:xfrm>
            <a:off x="6126480" y="1719072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API Docs — Swagger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1"/>
          <p:cNvSpPr/>
          <p:nvPr/>
        </p:nvSpPr>
        <p:spPr>
          <a:xfrm>
            <a:off x="6172200" y="221284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URL: lexcounselai.onrender.com/docs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1"/>
          <p:cNvSpPr/>
          <p:nvPr/>
        </p:nvSpPr>
        <p:spPr>
          <a:xfrm>
            <a:off x="6172200" y="271576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Auto-generated by FastAPI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1"/>
          <p:cNvSpPr/>
          <p:nvPr/>
        </p:nvSpPr>
        <p:spPr>
          <a:xfrm>
            <a:off x="6172200" y="321868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All endpoints documented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1"/>
          <p:cNvSpPr/>
          <p:nvPr/>
        </p:nvSpPr>
        <p:spPr>
          <a:xfrm>
            <a:off x="6172200" y="372160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Request/Response schemas shown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1"/>
          <p:cNvSpPr/>
          <p:nvPr/>
        </p:nvSpPr>
        <p:spPr>
          <a:xfrm>
            <a:off x="6172200" y="4224528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• Interactive try-it-out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1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08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A3080"/>
                </a:solidFill>
                <a:latin typeface="Calibri"/>
                <a:ea typeface="Calibri"/>
                <a:cs typeface="Calibri"/>
                <a:sym typeface="Calibri"/>
              </a:rPr>
              <a:t>GitHub: https://github.com/Rameshkn04/LexCounselAI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1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17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4B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2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Challenges Faced &amp; Solutions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Engineering decisions made under real-world constraints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2"/>
          <p:cNvSpPr/>
          <p:nvPr/>
        </p:nvSpPr>
        <p:spPr>
          <a:xfrm>
            <a:off x="365760" y="1097280"/>
            <a:ext cx="8412480" cy="713232"/>
          </a:xfrm>
          <a:prstGeom prst="roundRect">
            <a:avLst>
              <a:gd fmla="val 10256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8" name="Google Shape;66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618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32"/>
          <p:cNvSpPr/>
          <p:nvPr/>
        </p:nvSpPr>
        <p:spPr>
          <a:xfrm>
            <a:off x="1005840" y="1133856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Render Cold Start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2"/>
          <p:cNvSpPr/>
          <p:nvPr/>
        </p:nvSpPr>
        <p:spPr>
          <a:xfrm>
            <a:off x="1005840" y="144475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Problem: Free tier spins down after 15 min inactivity → 30-60s first load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2"/>
          <p:cNvSpPr/>
          <p:nvPr/>
        </p:nvSpPr>
        <p:spPr>
          <a:xfrm>
            <a:off x="4434840" y="1261872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E9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0EE90"/>
                </a:solidFill>
                <a:latin typeface="Calibri"/>
                <a:ea typeface="Calibri"/>
                <a:cs typeface="Calibri"/>
                <a:sym typeface="Calibri"/>
              </a:rPr>
              <a:t>✓ Health-check ping strategy; upgrade path to Starter tier identified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2"/>
          <p:cNvSpPr/>
          <p:nvPr/>
        </p:nvSpPr>
        <p:spPr>
          <a:xfrm>
            <a:off x="365760" y="1883664"/>
            <a:ext cx="8412480" cy="713232"/>
          </a:xfrm>
          <a:prstGeom prst="roundRect">
            <a:avLst>
              <a:gd fmla="val 10256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3" name="Google Shape;67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04825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32"/>
          <p:cNvSpPr/>
          <p:nvPr/>
        </p:nvSpPr>
        <p:spPr>
          <a:xfrm>
            <a:off x="1005840" y="1920240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Gemini Rate Limits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2"/>
          <p:cNvSpPr/>
          <p:nvPr/>
        </p:nvSpPr>
        <p:spPr>
          <a:xfrm>
            <a:off x="1005840" y="2231136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Problem: Free tier 429 errors under sustained load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2"/>
          <p:cNvSpPr/>
          <p:nvPr/>
        </p:nvSpPr>
        <p:spPr>
          <a:xfrm>
            <a:off x="4434840" y="2048256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E9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0EE90"/>
                </a:solidFill>
                <a:latin typeface="Calibri"/>
                <a:ea typeface="Calibri"/>
                <a:cs typeface="Calibri"/>
                <a:sym typeface="Calibri"/>
              </a:rPr>
              <a:t>✓ Exponential backoff (1s, 2s, 4s); 3 retries; user-visible error message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2"/>
          <p:cNvSpPr/>
          <p:nvPr/>
        </p:nvSpPr>
        <p:spPr>
          <a:xfrm>
            <a:off x="365760" y="2670048"/>
            <a:ext cx="8412480" cy="713232"/>
          </a:xfrm>
          <a:prstGeom prst="roundRect">
            <a:avLst>
              <a:gd fmla="val 10256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8" name="Google Shape;67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8346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32"/>
          <p:cNvSpPr/>
          <p:nvPr/>
        </p:nvSpPr>
        <p:spPr>
          <a:xfrm>
            <a:off x="1005840" y="2706624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ChromaDB Persistence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2"/>
          <p:cNvSpPr/>
          <p:nvPr/>
        </p:nvSpPr>
        <p:spPr>
          <a:xfrm>
            <a:off x="1005840" y="3017520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Problem: Ephemeral file system on Render could wipe vectors on restart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2"/>
          <p:cNvSpPr/>
          <p:nvPr/>
        </p:nvSpPr>
        <p:spPr>
          <a:xfrm>
            <a:off x="4434840" y="283464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E9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0EE90"/>
                </a:solidFill>
                <a:latin typeface="Calibri"/>
                <a:ea typeface="Calibri"/>
                <a:cs typeface="Calibri"/>
                <a:sym typeface="Calibri"/>
              </a:rPr>
              <a:t>✓ Mounted persistent volume at /opt/render/project/src/chroma_data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2"/>
          <p:cNvSpPr/>
          <p:nvPr/>
        </p:nvSpPr>
        <p:spPr>
          <a:xfrm>
            <a:off x="365760" y="3456432"/>
            <a:ext cx="8412480" cy="713232"/>
          </a:xfrm>
          <a:prstGeom prst="roundRect">
            <a:avLst>
              <a:gd fmla="val 10256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3" name="Google Shape;68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36210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32"/>
          <p:cNvSpPr/>
          <p:nvPr/>
        </p:nvSpPr>
        <p:spPr>
          <a:xfrm>
            <a:off x="1005840" y="3493008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CORS Configuration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2"/>
          <p:cNvSpPr/>
          <p:nvPr/>
        </p:nvSpPr>
        <p:spPr>
          <a:xfrm>
            <a:off x="1005840" y="3803904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Problem: Cross-origin requests blocked during development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2"/>
          <p:cNvSpPr/>
          <p:nvPr/>
        </p:nvSpPr>
        <p:spPr>
          <a:xfrm>
            <a:off x="4434840" y="3621024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E9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0EE90"/>
                </a:solidFill>
                <a:latin typeface="Calibri"/>
                <a:ea typeface="Calibri"/>
                <a:cs typeface="Calibri"/>
                <a:sym typeface="Calibri"/>
              </a:rPr>
              <a:t>✓ CORSMiddleware whitelist scoped to Vercel production domain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2"/>
          <p:cNvSpPr/>
          <p:nvPr/>
        </p:nvSpPr>
        <p:spPr>
          <a:xfrm>
            <a:off x="365760" y="4242816"/>
            <a:ext cx="8412480" cy="713232"/>
          </a:xfrm>
          <a:prstGeom prst="roundRect">
            <a:avLst>
              <a:gd fmla="val 10256" name="adj"/>
            </a:avLst>
          </a:prstGeom>
          <a:solidFill>
            <a:srgbClr val="122368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8" name="Google Shape;68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4074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32"/>
          <p:cNvSpPr/>
          <p:nvPr/>
        </p:nvSpPr>
        <p:spPr>
          <a:xfrm>
            <a:off x="1005840" y="427939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Embedding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2"/>
          <p:cNvSpPr/>
          <p:nvPr/>
        </p:nvSpPr>
        <p:spPr>
          <a:xfrm>
            <a:off x="1005840" y="4590288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Problem: HashingVectorizer misses deep semantics vs transformer models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2"/>
          <p:cNvSpPr/>
          <p:nvPr/>
        </p:nvSpPr>
        <p:spPr>
          <a:xfrm>
            <a:off x="4434840" y="4407408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E90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90EE90"/>
                </a:solidFill>
                <a:latin typeface="Calibri"/>
                <a:ea typeface="Calibri"/>
                <a:cs typeface="Calibri"/>
                <a:sym typeface="Calibri"/>
              </a:rPr>
              <a:t>✓ Accepted trade-off; SentenceTransformers identified as upgrade path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09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4A6090"/>
                </a:solidFill>
                <a:latin typeface="Calibri"/>
                <a:ea typeface="Calibri"/>
                <a:cs typeface="Calibri"/>
                <a:sym typeface="Calibri"/>
              </a:rPr>
              <a:t>18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3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Future Enhancements — Product Roadmap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3"/>
          <p:cNvSpPr/>
          <p:nvPr/>
        </p:nvSpPr>
        <p:spPr>
          <a:xfrm>
            <a:off x="320040" y="777240"/>
            <a:ext cx="2697480" cy="4069080"/>
          </a:xfrm>
          <a:prstGeom prst="roundRect">
            <a:avLst>
              <a:gd fmla="val 4746" name="adj"/>
            </a:avLst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3"/>
          <p:cNvSpPr/>
          <p:nvPr/>
        </p:nvSpPr>
        <p:spPr>
          <a:xfrm>
            <a:off x="411480" y="841248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Phase 1 – Near Term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3"/>
          <p:cNvSpPr/>
          <p:nvPr/>
        </p:nvSpPr>
        <p:spPr>
          <a:xfrm>
            <a:off x="429768" y="1463040"/>
            <a:ext cx="2478024" cy="548640"/>
          </a:xfrm>
          <a:prstGeom prst="roundRect">
            <a:avLst>
              <a:gd fmla="val 13333" name="adj"/>
            </a:avLst>
          </a:prstGeom>
          <a:solidFill>
            <a:srgbClr val="000000">
              <a:alpha val="40000"/>
            </a:srgbClr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3" name="Google Shape;70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51790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33"/>
          <p:cNvSpPr/>
          <p:nvPr/>
        </p:nvSpPr>
        <p:spPr>
          <a:xfrm>
            <a:off x="868680" y="149047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OCR Support (Tesseract / AWS Textract)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3"/>
          <p:cNvSpPr/>
          <p:nvPr/>
        </p:nvSpPr>
        <p:spPr>
          <a:xfrm>
            <a:off x="429768" y="2157984"/>
            <a:ext cx="2478024" cy="548640"/>
          </a:xfrm>
          <a:prstGeom prst="roundRect">
            <a:avLst>
              <a:gd fmla="val 13333" name="adj"/>
            </a:avLst>
          </a:prstGeom>
          <a:solidFill>
            <a:srgbClr val="000000">
              <a:alpha val="40000"/>
            </a:srgbClr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6" name="Google Shape;70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2128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33"/>
          <p:cNvSpPr/>
          <p:nvPr/>
        </p:nvSpPr>
        <p:spPr>
          <a:xfrm>
            <a:off x="868680" y="2185416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Multi-format: DOCX, ODT, TXT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3"/>
          <p:cNvSpPr/>
          <p:nvPr/>
        </p:nvSpPr>
        <p:spPr>
          <a:xfrm>
            <a:off x="429768" y="2852928"/>
            <a:ext cx="2478024" cy="548640"/>
          </a:xfrm>
          <a:prstGeom prst="roundRect">
            <a:avLst>
              <a:gd fmla="val 13333" name="adj"/>
            </a:avLst>
          </a:prstGeom>
          <a:solidFill>
            <a:srgbClr val="000000">
              <a:alpha val="40000"/>
            </a:srgbClr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9" name="Google Shape;7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9077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33"/>
          <p:cNvSpPr/>
          <p:nvPr/>
        </p:nvSpPr>
        <p:spPr>
          <a:xfrm>
            <a:off x="868680" y="2880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SentenceTransformer Dense Embeddings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3"/>
          <p:cNvSpPr/>
          <p:nvPr/>
        </p:nvSpPr>
        <p:spPr>
          <a:xfrm>
            <a:off x="429768" y="3547872"/>
            <a:ext cx="2478024" cy="548640"/>
          </a:xfrm>
          <a:prstGeom prst="roundRect">
            <a:avLst>
              <a:gd fmla="val 13333" name="adj"/>
            </a:avLst>
          </a:prstGeom>
          <a:solidFill>
            <a:srgbClr val="000000">
              <a:alpha val="40000"/>
            </a:srgbClr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2" name="Google Shape;71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36027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33"/>
          <p:cNvSpPr/>
          <p:nvPr/>
        </p:nvSpPr>
        <p:spPr>
          <a:xfrm>
            <a:off x="868680" y="3575304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Conversation History &amp; Context Memory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3"/>
          <p:cNvSpPr/>
          <p:nvPr/>
        </p:nvSpPr>
        <p:spPr>
          <a:xfrm>
            <a:off x="3200400" y="777240"/>
            <a:ext cx="2697480" cy="4069080"/>
          </a:xfrm>
          <a:prstGeom prst="roundRect">
            <a:avLst>
              <a:gd fmla="val 4746" name="adj"/>
            </a:avLst>
          </a:prstGeom>
          <a:solidFill>
            <a:srgbClr val="1A3080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3"/>
          <p:cNvSpPr/>
          <p:nvPr/>
        </p:nvSpPr>
        <p:spPr>
          <a:xfrm>
            <a:off x="3291840" y="841248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Phase 2 – Mid Term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3"/>
          <p:cNvSpPr/>
          <p:nvPr/>
        </p:nvSpPr>
        <p:spPr>
          <a:xfrm>
            <a:off x="3310128" y="1463040"/>
            <a:ext cx="2478024" cy="548640"/>
          </a:xfrm>
          <a:prstGeom prst="roundRect">
            <a:avLst>
              <a:gd fmla="val 13333" name="adj"/>
            </a:avLst>
          </a:prstGeom>
          <a:solidFill>
            <a:srgbClr val="000000">
              <a:alpha val="40000"/>
            </a:srgbClr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7" name="Google Shape;71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80" y="151790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33"/>
          <p:cNvSpPr/>
          <p:nvPr/>
        </p:nvSpPr>
        <p:spPr>
          <a:xfrm>
            <a:off x="3749040" y="149047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Multi-Language Support (LaBSE / mBERT)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3"/>
          <p:cNvSpPr/>
          <p:nvPr/>
        </p:nvSpPr>
        <p:spPr>
          <a:xfrm>
            <a:off x="3310128" y="2157984"/>
            <a:ext cx="2478024" cy="548640"/>
          </a:xfrm>
          <a:prstGeom prst="roundRect">
            <a:avLst>
              <a:gd fmla="val 13333" name="adj"/>
            </a:avLst>
          </a:prstGeom>
          <a:solidFill>
            <a:srgbClr val="000000">
              <a:alpha val="40000"/>
            </a:srgbClr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0" name="Google Shape;72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80" y="22128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33"/>
          <p:cNvSpPr/>
          <p:nvPr/>
        </p:nvSpPr>
        <p:spPr>
          <a:xfrm>
            <a:off x="3749040" y="2185416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Role-Based Access Control (RBAC)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3"/>
          <p:cNvSpPr/>
          <p:nvPr/>
        </p:nvSpPr>
        <p:spPr>
          <a:xfrm>
            <a:off x="3310128" y="2852928"/>
            <a:ext cx="2478024" cy="548640"/>
          </a:xfrm>
          <a:prstGeom prst="roundRect">
            <a:avLst>
              <a:gd fmla="val 13333" name="adj"/>
            </a:avLst>
          </a:prstGeom>
          <a:solidFill>
            <a:srgbClr val="000000">
              <a:alpha val="40000"/>
            </a:srgbClr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3" name="Google Shape;7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80" y="29077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33"/>
          <p:cNvSpPr/>
          <p:nvPr/>
        </p:nvSpPr>
        <p:spPr>
          <a:xfrm>
            <a:off x="3749040" y="2880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Document Summarisation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3"/>
          <p:cNvSpPr/>
          <p:nvPr/>
        </p:nvSpPr>
        <p:spPr>
          <a:xfrm>
            <a:off x="3310128" y="3547872"/>
            <a:ext cx="2478024" cy="548640"/>
          </a:xfrm>
          <a:prstGeom prst="roundRect">
            <a:avLst>
              <a:gd fmla="val 13333" name="adj"/>
            </a:avLst>
          </a:prstGeom>
          <a:solidFill>
            <a:srgbClr val="000000">
              <a:alpha val="40000"/>
            </a:srgbClr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6" name="Google Shape;72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80" y="36027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33"/>
          <p:cNvSpPr/>
          <p:nvPr/>
        </p:nvSpPr>
        <p:spPr>
          <a:xfrm>
            <a:off x="3749040" y="3575304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In-Document Citation Highlighting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3"/>
          <p:cNvSpPr/>
          <p:nvPr/>
        </p:nvSpPr>
        <p:spPr>
          <a:xfrm>
            <a:off x="6080760" y="777240"/>
            <a:ext cx="2697480" cy="4069080"/>
          </a:xfrm>
          <a:prstGeom prst="roundRect">
            <a:avLst>
              <a:gd fmla="val 4746" name="adj"/>
            </a:avLst>
          </a:prstGeom>
          <a:solidFill>
            <a:srgbClr val="1A4070"/>
          </a:solidFill>
          <a:ln cap="flat" cmpd="sng" w="12700">
            <a:solidFill>
              <a:srgbClr val="1A4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3"/>
          <p:cNvSpPr/>
          <p:nvPr/>
        </p:nvSpPr>
        <p:spPr>
          <a:xfrm>
            <a:off x="6172200" y="841248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Phase 3 – Long Term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3"/>
          <p:cNvSpPr/>
          <p:nvPr/>
        </p:nvSpPr>
        <p:spPr>
          <a:xfrm>
            <a:off x="6190488" y="1463040"/>
            <a:ext cx="2478024" cy="548640"/>
          </a:xfrm>
          <a:prstGeom prst="roundRect">
            <a:avLst>
              <a:gd fmla="val 13333" name="adj"/>
            </a:avLst>
          </a:prstGeom>
          <a:solidFill>
            <a:srgbClr val="000000">
              <a:alpha val="40000"/>
            </a:srgbClr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1" name="Google Shape;7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151790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33"/>
          <p:cNvSpPr/>
          <p:nvPr/>
        </p:nvSpPr>
        <p:spPr>
          <a:xfrm>
            <a:off x="6629400" y="149047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Legal Risk Analysis Module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3"/>
          <p:cNvSpPr/>
          <p:nvPr/>
        </p:nvSpPr>
        <p:spPr>
          <a:xfrm>
            <a:off x="6190488" y="2157984"/>
            <a:ext cx="2478024" cy="548640"/>
          </a:xfrm>
          <a:prstGeom prst="roundRect">
            <a:avLst>
              <a:gd fmla="val 13333" name="adj"/>
            </a:avLst>
          </a:prstGeom>
          <a:solidFill>
            <a:srgbClr val="000000">
              <a:alpha val="40000"/>
            </a:srgbClr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4" name="Google Shape;7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22128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33"/>
          <p:cNvSpPr/>
          <p:nvPr/>
        </p:nvSpPr>
        <p:spPr>
          <a:xfrm>
            <a:off x="6629400" y="2185416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Clause Comparison &amp; Redlining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3"/>
          <p:cNvSpPr/>
          <p:nvPr/>
        </p:nvSpPr>
        <p:spPr>
          <a:xfrm>
            <a:off x="6190488" y="2852928"/>
            <a:ext cx="2478024" cy="548640"/>
          </a:xfrm>
          <a:prstGeom prst="roundRect">
            <a:avLst>
              <a:gd fmla="val 13333" name="adj"/>
            </a:avLst>
          </a:prstGeom>
          <a:solidFill>
            <a:srgbClr val="000000">
              <a:alpha val="40000"/>
            </a:srgbClr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7" name="Google Shape;73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29077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33"/>
          <p:cNvSpPr/>
          <p:nvPr/>
        </p:nvSpPr>
        <p:spPr>
          <a:xfrm>
            <a:off x="6629400" y="2880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Legal Compliance Checking (GDPR etc.)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3"/>
          <p:cNvSpPr/>
          <p:nvPr/>
        </p:nvSpPr>
        <p:spPr>
          <a:xfrm>
            <a:off x="6190488" y="3547872"/>
            <a:ext cx="2478024" cy="548640"/>
          </a:xfrm>
          <a:prstGeom prst="roundRect">
            <a:avLst>
              <a:gd fmla="val 13333" name="adj"/>
            </a:avLst>
          </a:prstGeom>
          <a:solidFill>
            <a:srgbClr val="000000">
              <a:alpha val="40000"/>
            </a:srgbClr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0" name="Google Shape;74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36027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33"/>
          <p:cNvSpPr/>
          <p:nvPr/>
        </p:nvSpPr>
        <p:spPr>
          <a:xfrm>
            <a:off x="6629400" y="3575304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Native Mobile Application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3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19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4B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4"/>
          <p:cNvSpPr/>
          <p:nvPr/>
        </p:nvSpPr>
        <p:spPr>
          <a:xfrm>
            <a:off x="457200" y="1371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4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LexCounsel AI successfully delivers a production-grade RAG application for legal document analysis — deployed, tested, and accessible to anyone.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0" name="Google Shape;75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0756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34"/>
          <p:cNvSpPr/>
          <p:nvPr/>
        </p:nvSpPr>
        <p:spPr>
          <a:xfrm>
            <a:off x="868680" y="20116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Full RAG Pipeline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4"/>
          <p:cNvSpPr/>
          <p:nvPr/>
        </p:nvSpPr>
        <p:spPr>
          <a:xfrm>
            <a:off x="3429000" y="201168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PDF ingestion → embedding → semantic retrieval → Gemini answer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3" name="Google Shape;75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6946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34"/>
          <p:cNvSpPr/>
          <p:nvPr/>
        </p:nvSpPr>
        <p:spPr>
          <a:xfrm>
            <a:off x="868680" y="2505456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100% Test Pass Rate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4"/>
          <p:cNvSpPr/>
          <p:nvPr/>
        </p:nvSpPr>
        <p:spPr>
          <a:xfrm>
            <a:off x="3429000" y="2505456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22/22 test cases passed on live production 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6" name="Google Shape;75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0632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34"/>
          <p:cNvSpPr/>
          <p:nvPr/>
        </p:nvSpPr>
        <p:spPr>
          <a:xfrm>
            <a:off x="868680" y="2999232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88–94% Retrieval Accuracy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4"/>
          <p:cNvSpPr/>
          <p:nvPr/>
        </p:nvSpPr>
        <p:spPr>
          <a:xfrm>
            <a:off x="3429000" y="2999232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Across 10–50 page legal documents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9" name="Google Shape;7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5570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34"/>
          <p:cNvSpPr/>
          <p:nvPr/>
        </p:nvSpPr>
        <p:spPr>
          <a:xfrm>
            <a:off x="868680" y="349300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Sub-3s Response Time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4"/>
          <p:cNvSpPr/>
          <p:nvPr/>
        </p:nvSpPr>
        <p:spPr>
          <a:xfrm>
            <a:off x="3429000" y="3493008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Fast enough for real-world legal review workflows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2" name="Google Shape;76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0507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34"/>
          <p:cNvSpPr/>
          <p:nvPr/>
        </p:nvSpPr>
        <p:spPr>
          <a:xfrm>
            <a:off x="868680" y="3986784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Zero-Cost Deployment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4"/>
          <p:cNvSpPr/>
          <p:nvPr/>
        </p:nvSpPr>
        <p:spPr>
          <a:xfrm>
            <a:off x="3429000" y="3986784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Fully deployed on Vercel + Render free tiers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5" name="Google Shape;7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445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4"/>
          <p:cNvSpPr/>
          <p:nvPr/>
        </p:nvSpPr>
        <p:spPr>
          <a:xfrm>
            <a:off x="868680" y="4480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Production-Ready Codebase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4"/>
          <p:cNvSpPr/>
          <p:nvPr/>
        </p:nvSpPr>
        <p:spPr>
          <a:xfrm>
            <a:off x="3429000" y="448056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Modular, documented, CI/CD automated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4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RAG is not a theory — it is a deployable, practical architecture for real-world document intelligence.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4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090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4A6090"/>
                </a:solidFill>
                <a:latin typeface="Calibri"/>
                <a:ea typeface="Calibri"/>
                <a:cs typeface="Calibri"/>
                <a:sym typeface="Calibri"/>
              </a:rPr>
              <a:t>20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080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5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Project Links &amp; Resources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5"/>
          <p:cNvSpPr/>
          <p:nvPr/>
        </p:nvSpPr>
        <p:spPr>
          <a:xfrm>
            <a:off x="365760" y="914400"/>
            <a:ext cx="8412480" cy="868680"/>
          </a:xfrm>
          <a:prstGeom prst="roundRect">
            <a:avLst>
              <a:gd fmla="val 10526" name="adj"/>
            </a:avLst>
          </a:prstGeom>
          <a:solidFill>
            <a:srgbClr val="0B1F4B"/>
          </a:solidFill>
          <a:ln cap="flat" cmpd="sng" w="12700">
            <a:solidFill>
              <a:srgbClr val="0B1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9" name="Google Shape;7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0972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35"/>
          <p:cNvSpPr/>
          <p:nvPr/>
        </p:nvSpPr>
        <p:spPr>
          <a:xfrm>
            <a:off x="1188720" y="96926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GitHub Repository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5"/>
          <p:cNvSpPr/>
          <p:nvPr/>
        </p:nvSpPr>
        <p:spPr>
          <a:xfrm>
            <a:off x="1188720" y="133502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https://github.com/Rameshkn04/LexCounselAI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5"/>
          <p:cNvSpPr/>
          <p:nvPr/>
        </p:nvSpPr>
        <p:spPr>
          <a:xfrm>
            <a:off x="1188720" y="157276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Full source code, README, architecture docs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5"/>
          <p:cNvSpPr/>
          <p:nvPr/>
        </p:nvSpPr>
        <p:spPr>
          <a:xfrm>
            <a:off x="365760" y="1920240"/>
            <a:ext cx="8412480" cy="868680"/>
          </a:xfrm>
          <a:prstGeom prst="roundRect">
            <a:avLst>
              <a:gd fmla="val 10526" name="adj"/>
            </a:avLst>
          </a:prstGeom>
          <a:solidFill>
            <a:srgbClr val="1A3080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4" name="Google Shape;78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1031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35"/>
          <p:cNvSpPr/>
          <p:nvPr/>
        </p:nvSpPr>
        <p:spPr>
          <a:xfrm>
            <a:off x="1188720" y="197510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Frontend (Vercel)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5"/>
          <p:cNvSpPr/>
          <p:nvPr/>
        </p:nvSpPr>
        <p:spPr>
          <a:xfrm>
            <a:off x="1188720" y="234086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https://lex-counsel-ai-kecs.vercel.app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5"/>
          <p:cNvSpPr/>
          <p:nvPr/>
        </p:nvSpPr>
        <p:spPr>
          <a:xfrm>
            <a:off x="1188720" y="257860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Live React SPA — try the demo now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5"/>
          <p:cNvSpPr/>
          <p:nvPr/>
        </p:nvSpPr>
        <p:spPr>
          <a:xfrm>
            <a:off x="365760" y="2926080"/>
            <a:ext cx="8412480" cy="868680"/>
          </a:xfrm>
          <a:prstGeom prst="roundRect">
            <a:avLst>
              <a:gd fmla="val 10526" name="adj"/>
            </a:avLst>
          </a:prstGeom>
          <a:solidFill>
            <a:srgbClr val="1A4070"/>
          </a:solidFill>
          <a:ln cap="flat" cmpd="sng" w="12700">
            <a:solidFill>
              <a:srgbClr val="1A4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9" name="Google Shape;78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3108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5"/>
          <p:cNvSpPr/>
          <p:nvPr/>
        </p:nvSpPr>
        <p:spPr>
          <a:xfrm>
            <a:off x="1188720" y="298094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Backend API (Render)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5"/>
          <p:cNvSpPr/>
          <p:nvPr/>
        </p:nvSpPr>
        <p:spPr>
          <a:xfrm>
            <a:off x="1188720" y="33467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https://lexcounselai.onrender.com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5"/>
          <p:cNvSpPr/>
          <p:nvPr/>
        </p:nvSpPr>
        <p:spPr>
          <a:xfrm>
            <a:off x="1188720" y="358444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FastAPI REST backend — may need warm-up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5"/>
          <p:cNvSpPr/>
          <p:nvPr/>
        </p:nvSpPr>
        <p:spPr>
          <a:xfrm>
            <a:off x="365760" y="3931920"/>
            <a:ext cx="8412480" cy="868680"/>
          </a:xfrm>
          <a:prstGeom prst="roundRect">
            <a:avLst>
              <a:gd fmla="val 10526" name="adj"/>
            </a:avLst>
          </a:prstGeom>
          <a:solidFill>
            <a:srgbClr val="234580"/>
          </a:solidFill>
          <a:ln cap="flat" cmpd="sng" w="12700">
            <a:solidFill>
              <a:srgbClr val="234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4" name="Google Shape;794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41148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35"/>
          <p:cNvSpPr/>
          <p:nvPr/>
        </p:nvSpPr>
        <p:spPr>
          <a:xfrm>
            <a:off x="1188720" y="398678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Swagger Docs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5"/>
          <p:cNvSpPr/>
          <p:nvPr/>
        </p:nvSpPr>
        <p:spPr>
          <a:xfrm>
            <a:off x="1188720" y="435254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ourier New"/>
              <a:buNone/>
            </a:pPr>
            <a:r>
              <a:rPr b="0" i="0" lang="en-GB" sz="1100" u="none" cap="none" strike="noStrike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https://lexcounselai.onrender.com/docs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5"/>
          <p:cNvSpPr/>
          <p:nvPr/>
        </p:nvSpPr>
        <p:spPr>
          <a:xfrm>
            <a:off x="1188720" y="4590288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Interactive API documentation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21 / 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4B"/>
        </a:solidFill>
      </p:bgPr>
    </p:bg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6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22368"/>
          </a:solidFill>
          <a:ln cap="flat" cmpd="sng" w="12700">
            <a:solidFill>
              <a:srgbClr val="122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6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A3080"/>
          </a:solidFill>
          <a:ln cap="flat" cmpd="sng" w="12700">
            <a:solidFill>
              <a:srgbClr val="1A3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6"/>
          <p:cNvSpPr/>
          <p:nvPr/>
        </p:nvSpPr>
        <p:spPr>
          <a:xfrm>
            <a:off x="0" y="0"/>
            <a:ext cx="5943600" cy="7315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7" name="Google Shape;80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36"/>
          <p:cNvSpPr/>
          <p:nvPr/>
        </p:nvSpPr>
        <p:spPr>
          <a:xfrm>
            <a:off x="457200" y="118872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GB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6"/>
          <p:cNvSpPr/>
          <p:nvPr/>
        </p:nvSpPr>
        <p:spPr>
          <a:xfrm>
            <a:off x="457200" y="20574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2000"/>
              <a:buFont typeface="Calibri"/>
              <a:buNone/>
            </a:pPr>
            <a:r>
              <a:rPr b="0" i="1" lang="en-GB" sz="20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6"/>
          <p:cNvSpPr/>
          <p:nvPr/>
        </p:nvSpPr>
        <p:spPr>
          <a:xfrm>
            <a:off x="457200" y="2651760"/>
            <a:ext cx="5029200" cy="36576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6"/>
          <p:cNvSpPr/>
          <p:nvPr/>
        </p:nvSpPr>
        <p:spPr>
          <a:xfrm>
            <a:off x="457200" y="27889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Ramesh K 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6"/>
          <p:cNvSpPr/>
          <p:nvPr/>
        </p:nvSpPr>
        <p:spPr>
          <a:xfrm>
            <a:off x="2743200" y="27889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6"/>
          <p:cNvSpPr/>
          <p:nvPr/>
        </p:nvSpPr>
        <p:spPr>
          <a:xfrm>
            <a:off x="457200" y="31363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USN: 1CR22AI094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6"/>
          <p:cNvSpPr/>
          <p:nvPr/>
        </p:nvSpPr>
        <p:spPr>
          <a:xfrm>
            <a:off x="2743200" y="31363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B.E. AIML — CMR Institute of Technology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6"/>
          <p:cNvSpPr/>
          <p:nvPr/>
        </p:nvSpPr>
        <p:spPr>
          <a:xfrm>
            <a:off x="457200" y="348386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GitHub: Rameshkn04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6"/>
          <p:cNvSpPr/>
          <p:nvPr/>
        </p:nvSpPr>
        <p:spPr>
          <a:xfrm>
            <a:off x="2743200" y="348386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https://github.com/Rameshkn04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6"/>
          <p:cNvSpPr/>
          <p:nvPr/>
        </p:nvSpPr>
        <p:spPr>
          <a:xfrm>
            <a:off x="457200" y="383133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870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E8C870"/>
                </a:solidFill>
                <a:latin typeface="Calibri"/>
                <a:ea typeface="Calibri"/>
                <a:cs typeface="Calibri"/>
                <a:sym typeface="Calibri"/>
              </a:rPr>
              <a:t>LinkedIn: ramesh-kn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6"/>
          <p:cNvSpPr/>
          <p:nvPr/>
        </p:nvSpPr>
        <p:spPr>
          <a:xfrm>
            <a:off x="2743200" y="383133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GB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https://www.linkedin.com/in/ramesh-kn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LexCounsel AI — Making Legal Knowledge Accessible to 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